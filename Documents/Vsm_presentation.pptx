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Open Sauce" panose="020B0604020202020204" charset="0"/>
      <p:regular r:id="rId22"/>
    </p:embeddedFont>
    <p:embeddedFont>
      <p:font typeface="Public Sans" panose="020B0604020202020204" charset="0"/>
      <p:regular r:id="rId23"/>
    </p:embeddedFont>
    <p:embeddedFont>
      <p:font typeface="Public Sans Bold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82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2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43297" y="245978"/>
            <a:ext cx="12942131" cy="3408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720"/>
              </a:lnSpc>
              <a:spcBef>
                <a:spcPct val="0"/>
              </a:spcBef>
            </a:pPr>
            <a:r>
              <a:rPr lang="en-US" sz="9800" b="1">
                <a:solidFill>
                  <a:srgbClr val="F4F1ED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Vehicle Service Management System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43297" y="4739640"/>
            <a:ext cx="12856727" cy="721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F4F1ED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 Modern Full-Stack Web Application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4533478" y="6532478"/>
            <a:ext cx="3754522" cy="3754522"/>
            <a:chOff x="0" y="0"/>
            <a:chExt cx="5006029" cy="5006029"/>
          </a:xfrm>
        </p:grpSpPr>
        <p:grpSp>
          <p:nvGrpSpPr>
            <p:cNvPr id="5" name="Group 5"/>
            <p:cNvGrpSpPr/>
            <p:nvPr/>
          </p:nvGrpSpPr>
          <p:grpSpPr>
            <a:xfrm>
              <a:off x="2503014" y="2503014"/>
              <a:ext cx="1251507" cy="1251507"/>
              <a:chOff x="0" y="0"/>
              <a:chExt cx="1913890" cy="191389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4F1ED"/>
              </a:solidFill>
            </p:spPr>
          </p:sp>
        </p:grpSp>
        <p:grpSp>
          <p:nvGrpSpPr>
            <p:cNvPr id="7" name="Group 7"/>
            <p:cNvGrpSpPr/>
            <p:nvPr/>
          </p:nvGrpSpPr>
          <p:grpSpPr>
            <a:xfrm>
              <a:off x="2503014" y="1251507"/>
              <a:ext cx="1251507" cy="1251507"/>
              <a:chOff x="0" y="0"/>
              <a:chExt cx="1913890" cy="191389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CF4545"/>
              </a:solidFill>
            </p:spPr>
          </p:sp>
        </p:grpSp>
        <p:grpSp>
          <p:nvGrpSpPr>
            <p:cNvPr id="9" name="Group 9"/>
            <p:cNvGrpSpPr/>
            <p:nvPr/>
          </p:nvGrpSpPr>
          <p:grpSpPr>
            <a:xfrm>
              <a:off x="1251507" y="2503014"/>
              <a:ext cx="1251507" cy="1251507"/>
              <a:chOff x="0" y="0"/>
              <a:chExt cx="1913890" cy="191389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6950"/>
              </a:solidFill>
            </p:spPr>
          </p:sp>
        </p:grpSp>
        <p:grpSp>
          <p:nvGrpSpPr>
            <p:cNvPr id="11" name="Group 11"/>
            <p:cNvGrpSpPr/>
            <p:nvPr/>
          </p:nvGrpSpPr>
          <p:grpSpPr>
            <a:xfrm>
              <a:off x="3754522" y="3754522"/>
              <a:ext cx="1251507" cy="1251507"/>
              <a:chOff x="0" y="0"/>
              <a:chExt cx="1913890" cy="191389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4F1ED"/>
              </a:solidFill>
            </p:spPr>
          </p:sp>
        </p:grpSp>
        <p:grpSp>
          <p:nvGrpSpPr>
            <p:cNvPr id="13" name="Group 13"/>
            <p:cNvGrpSpPr/>
            <p:nvPr/>
          </p:nvGrpSpPr>
          <p:grpSpPr>
            <a:xfrm>
              <a:off x="3754522" y="2503014"/>
              <a:ext cx="1251507" cy="1251507"/>
              <a:chOff x="0" y="0"/>
              <a:chExt cx="1913890" cy="191389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6950"/>
              </a:solidFill>
            </p:spPr>
          </p:sp>
        </p:grpSp>
        <p:grpSp>
          <p:nvGrpSpPr>
            <p:cNvPr id="15" name="Group 15"/>
            <p:cNvGrpSpPr/>
            <p:nvPr/>
          </p:nvGrpSpPr>
          <p:grpSpPr>
            <a:xfrm>
              <a:off x="2503014" y="3754522"/>
              <a:ext cx="1251507" cy="1251507"/>
              <a:chOff x="0" y="0"/>
              <a:chExt cx="1913890" cy="191389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CF4545"/>
              </a:solidFill>
            </p:spPr>
          </p:sp>
        </p:grpSp>
        <p:grpSp>
          <p:nvGrpSpPr>
            <p:cNvPr id="17" name="Group 17"/>
            <p:cNvGrpSpPr/>
            <p:nvPr/>
          </p:nvGrpSpPr>
          <p:grpSpPr>
            <a:xfrm>
              <a:off x="3754522" y="1251507"/>
              <a:ext cx="1251507" cy="1251507"/>
              <a:chOff x="0" y="0"/>
              <a:chExt cx="1913890" cy="191389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4F1ED"/>
              </a:solidFill>
            </p:spPr>
          </p:sp>
        </p:grpSp>
        <p:grpSp>
          <p:nvGrpSpPr>
            <p:cNvPr id="19" name="Group 19"/>
            <p:cNvGrpSpPr/>
            <p:nvPr/>
          </p:nvGrpSpPr>
          <p:grpSpPr>
            <a:xfrm>
              <a:off x="1251507" y="3754522"/>
              <a:ext cx="1251507" cy="1251507"/>
              <a:chOff x="0" y="0"/>
              <a:chExt cx="1913890" cy="191389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4F1ED"/>
              </a:solidFill>
            </p:spPr>
          </p:sp>
        </p:grpSp>
        <p:grpSp>
          <p:nvGrpSpPr>
            <p:cNvPr id="21" name="Group 21"/>
            <p:cNvGrpSpPr/>
            <p:nvPr/>
          </p:nvGrpSpPr>
          <p:grpSpPr>
            <a:xfrm>
              <a:off x="3754522" y="0"/>
              <a:ext cx="1251507" cy="1251507"/>
              <a:chOff x="0" y="0"/>
              <a:chExt cx="1913890" cy="191389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6950"/>
              </a:solidFill>
            </p:spPr>
          </p:sp>
        </p:grpSp>
        <p:grpSp>
          <p:nvGrpSpPr>
            <p:cNvPr id="23" name="Group 23"/>
            <p:cNvGrpSpPr/>
            <p:nvPr/>
          </p:nvGrpSpPr>
          <p:grpSpPr>
            <a:xfrm>
              <a:off x="0" y="3754522"/>
              <a:ext cx="1251507" cy="1251507"/>
              <a:chOff x="0" y="0"/>
              <a:chExt cx="1913890" cy="191389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CF4545"/>
              </a:solidFill>
            </p:spPr>
          </p:sp>
        </p:grpSp>
        <p:grpSp>
          <p:nvGrpSpPr>
            <p:cNvPr id="25" name="Group 25"/>
            <p:cNvGrpSpPr/>
            <p:nvPr/>
          </p:nvGrpSpPr>
          <p:grpSpPr>
            <a:xfrm>
              <a:off x="2503014" y="1251507"/>
              <a:ext cx="1251507" cy="1251507"/>
              <a:chOff x="0" y="0"/>
              <a:chExt cx="1913890" cy="191389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</p:grpSp>
      </p:grpSp>
      <p:sp>
        <p:nvSpPr>
          <p:cNvPr id="27" name="TextBox 27"/>
          <p:cNvSpPr txBox="1"/>
          <p:nvPr/>
        </p:nvSpPr>
        <p:spPr>
          <a:xfrm>
            <a:off x="4413450" y="6963390"/>
            <a:ext cx="2558058" cy="1444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64"/>
              </a:lnSpc>
            </a:pPr>
            <a:r>
              <a:rPr lang="en-US" sz="2760" b="1">
                <a:solidFill>
                  <a:srgbClr val="F4F1ED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Presented by</a:t>
            </a:r>
          </a:p>
          <a:p>
            <a:pPr algn="ctr">
              <a:lnSpc>
                <a:spcPts val="3864"/>
              </a:lnSpc>
            </a:pPr>
            <a:endParaRPr lang="en-US" sz="2760" b="1">
              <a:solidFill>
                <a:srgbClr val="F4F1ED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  <a:p>
            <a:pPr algn="ctr">
              <a:lnSpc>
                <a:spcPts val="3864"/>
              </a:lnSpc>
              <a:spcBef>
                <a:spcPct val="0"/>
              </a:spcBef>
            </a:pPr>
            <a:r>
              <a:rPr lang="en-US" sz="2760" b="1">
                <a:solidFill>
                  <a:srgbClr val="F4F1ED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Pratyush Singh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71305" y="1445002"/>
            <a:ext cx="12775904" cy="830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19"/>
              </a:lnSpc>
              <a:spcBef>
                <a:spcPct val="0"/>
              </a:spcBef>
            </a:pPr>
            <a:r>
              <a:rPr lang="en-US" sz="4800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Project Overview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410739" y="8409739"/>
            <a:ext cx="1877261" cy="1877261"/>
            <a:chOff x="0" y="0"/>
            <a:chExt cx="2503014" cy="2503014"/>
          </a:xfrm>
        </p:grpSpPr>
        <p:grpSp>
          <p:nvGrpSpPr>
            <p:cNvPr id="4" name="Group 4"/>
            <p:cNvGrpSpPr/>
            <p:nvPr/>
          </p:nvGrpSpPr>
          <p:grpSpPr>
            <a:xfrm>
              <a:off x="1251507" y="1251507"/>
              <a:ext cx="1251507" cy="1251507"/>
              <a:chOff x="0" y="0"/>
              <a:chExt cx="1913890" cy="191389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65212A"/>
              </a:solidFill>
            </p:spPr>
          </p:sp>
        </p:grpSp>
        <p:grpSp>
          <p:nvGrpSpPr>
            <p:cNvPr id="6" name="Group 6"/>
            <p:cNvGrpSpPr/>
            <p:nvPr/>
          </p:nvGrpSpPr>
          <p:grpSpPr>
            <a:xfrm>
              <a:off x="1251507" y="0"/>
              <a:ext cx="1251507" cy="1251507"/>
              <a:chOff x="0" y="0"/>
              <a:chExt cx="1913890" cy="191389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CF4545"/>
              </a:solidFill>
            </p:spPr>
          </p:sp>
        </p:grpSp>
        <p:grpSp>
          <p:nvGrpSpPr>
            <p:cNvPr id="8" name="Group 8"/>
            <p:cNvGrpSpPr/>
            <p:nvPr/>
          </p:nvGrpSpPr>
          <p:grpSpPr>
            <a:xfrm>
              <a:off x="0" y="1251507"/>
              <a:ext cx="1251507" cy="1251507"/>
              <a:chOff x="0" y="0"/>
              <a:chExt cx="1913890" cy="191389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6950"/>
              </a:solidFill>
            </p:spPr>
          </p:sp>
        </p:grpSp>
      </p:grpSp>
      <p:sp>
        <p:nvSpPr>
          <p:cNvPr id="10" name="TextBox 10"/>
          <p:cNvSpPr txBox="1"/>
          <p:nvPr/>
        </p:nvSpPr>
        <p:spPr>
          <a:xfrm>
            <a:off x="17565394" y="384175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CF4545"/>
                </a:solidFill>
                <a:latin typeface="Public Sans"/>
                <a:ea typeface="Public Sans"/>
                <a:cs typeface="Public Sans"/>
                <a:sym typeface="Public Sans"/>
              </a:rPr>
              <a:t>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83331" y="3168078"/>
            <a:ext cx="15127408" cy="4957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9202" lvl="1" indent="-279601" algn="l">
              <a:lnSpc>
                <a:spcPts val="3626"/>
              </a:lnSpc>
              <a:buFont typeface="Arial"/>
              <a:buChar char="•"/>
            </a:pPr>
            <a:r>
              <a:rPr lang="en-US" sz="259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Business Context and Problem Statement</a:t>
            </a:r>
          </a:p>
          <a:p>
            <a:pPr marL="559202" lvl="1" indent="-279601" algn="l">
              <a:lnSpc>
                <a:spcPts val="3626"/>
              </a:lnSpc>
              <a:buFont typeface="Arial"/>
              <a:buChar char="•"/>
            </a:pPr>
            <a:r>
              <a:rPr lang="en-US" sz="259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Project Objective</a:t>
            </a:r>
          </a:p>
          <a:p>
            <a:pPr marL="559202" lvl="1" indent="-279601" algn="l">
              <a:lnSpc>
                <a:spcPts val="3626"/>
              </a:lnSpc>
              <a:buFont typeface="Arial"/>
              <a:buChar char="•"/>
            </a:pPr>
            <a:r>
              <a:rPr lang="en-US" sz="259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Solution and Key Features</a:t>
            </a:r>
          </a:p>
          <a:p>
            <a:pPr marL="559202" lvl="1" indent="-279601" algn="l">
              <a:lnSpc>
                <a:spcPts val="3626"/>
              </a:lnSpc>
              <a:buFont typeface="Arial"/>
              <a:buChar char="•"/>
            </a:pPr>
            <a:r>
              <a:rPr lang="en-US" sz="259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Technology Stack</a:t>
            </a:r>
          </a:p>
          <a:p>
            <a:pPr marL="559202" lvl="1" indent="-279601" algn="l">
              <a:lnSpc>
                <a:spcPts val="3626"/>
              </a:lnSpc>
              <a:buFont typeface="Arial"/>
              <a:buChar char="•"/>
            </a:pPr>
            <a:r>
              <a:rPr lang="en-US" sz="259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System Architecture</a:t>
            </a:r>
          </a:p>
          <a:p>
            <a:pPr marL="559202" lvl="1" indent="-279601" algn="l">
              <a:lnSpc>
                <a:spcPts val="3626"/>
              </a:lnSpc>
              <a:spcBef>
                <a:spcPct val="0"/>
              </a:spcBef>
              <a:buFont typeface="Arial"/>
              <a:buChar char="•"/>
            </a:pPr>
            <a:r>
              <a:rPr lang="en-US" sz="259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User Roles</a:t>
            </a:r>
          </a:p>
          <a:p>
            <a:pPr marL="559202" lvl="1" indent="-279601" algn="l">
              <a:lnSpc>
                <a:spcPts val="3626"/>
              </a:lnSpc>
              <a:spcBef>
                <a:spcPct val="0"/>
              </a:spcBef>
              <a:buFont typeface="Arial"/>
              <a:buChar char="•"/>
            </a:pPr>
            <a:r>
              <a:rPr lang="en-US" sz="259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System Flowchart</a:t>
            </a:r>
          </a:p>
          <a:p>
            <a:pPr marL="559202" lvl="1" indent="-279601" algn="l">
              <a:lnSpc>
                <a:spcPts val="3626"/>
              </a:lnSpc>
              <a:spcBef>
                <a:spcPct val="0"/>
              </a:spcBef>
              <a:buFont typeface="Arial"/>
              <a:buChar char="•"/>
            </a:pPr>
            <a:r>
              <a:rPr lang="en-US" sz="259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Security Features</a:t>
            </a:r>
          </a:p>
          <a:p>
            <a:pPr marL="559202" lvl="1" indent="-279601" algn="l">
              <a:lnSpc>
                <a:spcPts val="3626"/>
              </a:lnSpc>
              <a:spcBef>
                <a:spcPct val="0"/>
              </a:spcBef>
              <a:buFont typeface="Arial"/>
              <a:buChar char="•"/>
            </a:pPr>
            <a:r>
              <a:rPr lang="en-US" sz="259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Quality Assurance and Testing</a:t>
            </a:r>
          </a:p>
          <a:p>
            <a:pPr marL="559202" lvl="1" indent="-279601" algn="l">
              <a:lnSpc>
                <a:spcPts val="3626"/>
              </a:lnSpc>
              <a:spcBef>
                <a:spcPct val="0"/>
              </a:spcBef>
              <a:buFont typeface="Arial"/>
              <a:buChar char="•"/>
            </a:pPr>
            <a:r>
              <a:rPr lang="en-US" sz="259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Project Screenshots</a:t>
            </a:r>
          </a:p>
          <a:p>
            <a:pPr algn="ctr">
              <a:lnSpc>
                <a:spcPts val="3626"/>
              </a:lnSpc>
              <a:spcBef>
                <a:spcPct val="0"/>
              </a:spcBef>
            </a:pPr>
            <a:endParaRPr lang="en-US" sz="259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533478" y="6532478"/>
            <a:ext cx="3754522" cy="3754522"/>
            <a:chOff x="0" y="0"/>
            <a:chExt cx="5006029" cy="5006029"/>
          </a:xfrm>
        </p:grpSpPr>
        <p:grpSp>
          <p:nvGrpSpPr>
            <p:cNvPr id="3" name="Group 3"/>
            <p:cNvGrpSpPr/>
            <p:nvPr/>
          </p:nvGrpSpPr>
          <p:grpSpPr>
            <a:xfrm>
              <a:off x="2503014" y="2503014"/>
              <a:ext cx="1251507" cy="1251507"/>
              <a:chOff x="0" y="0"/>
              <a:chExt cx="1913890" cy="191389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4F1ED"/>
              </a:solidFill>
            </p:spPr>
          </p:sp>
        </p:grpSp>
        <p:grpSp>
          <p:nvGrpSpPr>
            <p:cNvPr id="5" name="Group 5"/>
            <p:cNvGrpSpPr/>
            <p:nvPr/>
          </p:nvGrpSpPr>
          <p:grpSpPr>
            <a:xfrm>
              <a:off x="2503014" y="1251507"/>
              <a:ext cx="1251507" cy="1251507"/>
              <a:chOff x="0" y="0"/>
              <a:chExt cx="1913890" cy="191389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CF4545"/>
              </a:solidFill>
            </p:spPr>
          </p:sp>
        </p:grpSp>
        <p:grpSp>
          <p:nvGrpSpPr>
            <p:cNvPr id="7" name="Group 7"/>
            <p:cNvGrpSpPr/>
            <p:nvPr/>
          </p:nvGrpSpPr>
          <p:grpSpPr>
            <a:xfrm>
              <a:off x="1251507" y="2503014"/>
              <a:ext cx="1251507" cy="1251507"/>
              <a:chOff x="0" y="0"/>
              <a:chExt cx="1913890" cy="191389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6950"/>
              </a:solidFill>
            </p:spPr>
          </p:sp>
        </p:grpSp>
        <p:grpSp>
          <p:nvGrpSpPr>
            <p:cNvPr id="9" name="Group 9"/>
            <p:cNvGrpSpPr/>
            <p:nvPr/>
          </p:nvGrpSpPr>
          <p:grpSpPr>
            <a:xfrm>
              <a:off x="3754522" y="3754522"/>
              <a:ext cx="1251507" cy="1251507"/>
              <a:chOff x="0" y="0"/>
              <a:chExt cx="1913890" cy="191389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4F1ED"/>
              </a:solidFill>
            </p:spPr>
          </p:sp>
        </p:grpSp>
        <p:grpSp>
          <p:nvGrpSpPr>
            <p:cNvPr id="11" name="Group 11"/>
            <p:cNvGrpSpPr/>
            <p:nvPr/>
          </p:nvGrpSpPr>
          <p:grpSpPr>
            <a:xfrm>
              <a:off x="3754522" y="2503014"/>
              <a:ext cx="1251507" cy="1251507"/>
              <a:chOff x="0" y="0"/>
              <a:chExt cx="1913890" cy="191389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6950"/>
              </a:solidFill>
            </p:spPr>
          </p:sp>
        </p:grpSp>
        <p:grpSp>
          <p:nvGrpSpPr>
            <p:cNvPr id="13" name="Group 13"/>
            <p:cNvGrpSpPr/>
            <p:nvPr/>
          </p:nvGrpSpPr>
          <p:grpSpPr>
            <a:xfrm>
              <a:off x="2503014" y="3754522"/>
              <a:ext cx="1251507" cy="1251507"/>
              <a:chOff x="0" y="0"/>
              <a:chExt cx="1913890" cy="191389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CF4545"/>
              </a:solidFill>
            </p:spPr>
          </p:sp>
        </p:grpSp>
        <p:grpSp>
          <p:nvGrpSpPr>
            <p:cNvPr id="15" name="Group 15"/>
            <p:cNvGrpSpPr/>
            <p:nvPr/>
          </p:nvGrpSpPr>
          <p:grpSpPr>
            <a:xfrm>
              <a:off x="3754522" y="1251507"/>
              <a:ext cx="1251507" cy="1251507"/>
              <a:chOff x="0" y="0"/>
              <a:chExt cx="1913890" cy="191389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4F1ED"/>
              </a:solidFill>
            </p:spPr>
          </p:sp>
        </p:grpSp>
        <p:grpSp>
          <p:nvGrpSpPr>
            <p:cNvPr id="17" name="Group 17"/>
            <p:cNvGrpSpPr/>
            <p:nvPr/>
          </p:nvGrpSpPr>
          <p:grpSpPr>
            <a:xfrm>
              <a:off x="1251507" y="3754522"/>
              <a:ext cx="1251507" cy="1251507"/>
              <a:chOff x="0" y="0"/>
              <a:chExt cx="1913890" cy="191389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4F1ED"/>
              </a:solidFill>
            </p:spPr>
          </p:sp>
        </p:grpSp>
        <p:grpSp>
          <p:nvGrpSpPr>
            <p:cNvPr id="19" name="Group 19"/>
            <p:cNvGrpSpPr/>
            <p:nvPr/>
          </p:nvGrpSpPr>
          <p:grpSpPr>
            <a:xfrm>
              <a:off x="3754522" y="0"/>
              <a:ext cx="1251507" cy="1251507"/>
              <a:chOff x="0" y="0"/>
              <a:chExt cx="1913890" cy="191389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6950"/>
              </a:solidFill>
            </p:spPr>
          </p:sp>
        </p:grpSp>
        <p:grpSp>
          <p:nvGrpSpPr>
            <p:cNvPr id="21" name="Group 21"/>
            <p:cNvGrpSpPr/>
            <p:nvPr/>
          </p:nvGrpSpPr>
          <p:grpSpPr>
            <a:xfrm>
              <a:off x="0" y="3754522"/>
              <a:ext cx="1251507" cy="1251507"/>
              <a:chOff x="0" y="0"/>
              <a:chExt cx="1913890" cy="191389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CF4545"/>
              </a:solidFill>
            </p:spPr>
          </p:sp>
        </p:grpSp>
        <p:grpSp>
          <p:nvGrpSpPr>
            <p:cNvPr id="23" name="Group 23"/>
            <p:cNvGrpSpPr/>
            <p:nvPr/>
          </p:nvGrpSpPr>
          <p:grpSpPr>
            <a:xfrm>
              <a:off x="2503014" y="1251507"/>
              <a:ext cx="1251507" cy="1251507"/>
              <a:chOff x="0" y="0"/>
              <a:chExt cx="1913890" cy="191389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</p:grpSp>
      </p:grpSp>
      <p:grpSp>
        <p:nvGrpSpPr>
          <p:cNvPr id="25" name="Group 25"/>
          <p:cNvGrpSpPr/>
          <p:nvPr/>
        </p:nvGrpSpPr>
        <p:grpSpPr>
          <a:xfrm rot="-10800000">
            <a:off x="0" y="0"/>
            <a:ext cx="3754522" cy="3754522"/>
            <a:chOff x="0" y="0"/>
            <a:chExt cx="5006029" cy="5006029"/>
          </a:xfrm>
        </p:grpSpPr>
        <p:grpSp>
          <p:nvGrpSpPr>
            <p:cNvPr id="26" name="Group 26"/>
            <p:cNvGrpSpPr/>
            <p:nvPr/>
          </p:nvGrpSpPr>
          <p:grpSpPr>
            <a:xfrm>
              <a:off x="2503014" y="2503014"/>
              <a:ext cx="1251507" cy="1251507"/>
              <a:chOff x="0" y="0"/>
              <a:chExt cx="1913890" cy="191389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4F1ED"/>
              </a:solidFill>
            </p:spPr>
          </p:sp>
        </p:grpSp>
        <p:grpSp>
          <p:nvGrpSpPr>
            <p:cNvPr id="28" name="Group 28"/>
            <p:cNvGrpSpPr/>
            <p:nvPr/>
          </p:nvGrpSpPr>
          <p:grpSpPr>
            <a:xfrm>
              <a:off x="2503014" y="1251507"/>
              <a:ext cx="1251507" cy="1251507"/>
              <a:chOff x="0" y="0"/>
              <a:chExt cx="1913890" cy="191389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CF4545"/>
              </a:solidFill>
            </p:spPr>
          </p:sp>
        </p:grpSp>
        <p:grpSp>
          <p:nvGrpSpPr>
            <p:cNvPr id="30" name="Group 30"/>
            <p:cNvGrpSpPr/>
            <p:nvPr/>
          </p:nvGrpSpPr>
          <p:grpSpPr>
            <a:xfrm>
              <a:off x="1251507" y="2503014"/>
              <a:ext cx="1251507" cy="1251507"/>
              <a:chOff x="0" y="0"/>
              <a:chExt cx="1913890" cy="191389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6950"/>
              </a:solidFill>
            </p:spPr>
          </p:sp>
        </p:grpSp>
        <p:grpSp>
          <p:nvGrpSpPr>
            <p:cNvPr id="32" name="Group 32"/>
            <p:cNvGrpSpPr/>
            <p:nvPr/>
          </p:nvGrpSpPr>
          <p:grpSpPr>
            <a:xfrm>
              <a:off x="3754522" y="3754522"/>
              <a:ext cx="1251507" cy="1251507"/>
              <a:chOff x="0" y="0"/>
              <a:chExt cx="1913890" cy="191389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4F1ED"/>
              </a:solidFill>
            </p:spPr>
          </p:sp>
        </p:grpSp>
        <p:grpSp>
          <p:nvGrpSpPr>
            <p:cNvPr id="34" name="Group 34"/>
            <p:cNvGrpSpPr/>
            <p:nvPr/>
          </p:nvGrpSpPr>
          <p:grpSpPr>
            <a:xfrm>
              <a:off x="3754522" y="2503014"/>
              <a:ext cx="1251507" cy="1251507"/>
              <a:chOff x="0" y="0"/>
              <a:chExt cx="1913890" cy="191389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6950"/>
              </a:solidFill>
            </p:spPr>
          </p:sp>
        </p:grpSp>
        <p:grpSp>
          <p:nvGrpSpPr>
            <p:cNvPr id="36" name="Group 36"/>
            <p:cNvGrpSpPr/>
            <p:nvPr/>
          </p:nvGrpSpPr>
          <p:grpSpPr>
            <a:xfrm>
              <a:off x="2503014" y="3754522"/>
              <a:ext cx="1251507" cy="1251507"/>
              <a:chOff x="0" y="0"/>
              <a:chExt cx="1913890" cy="191389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CF4545"/>
              </a:solidFill>
            </p:spPr>
          </p:sp>
        </p:grpSp>
        <p:grpSp>
          <p:nvGrpSpPr>
            <p:cNvPr id="38" name="Group 38"/>
            <p:cNvGrpSpPr/>
            <p:nvPr/>
          </p:nvGrpSpPr>
          <p:grpSpPr>
            <a:xfrm>
              <a:off x="3754522" y="1251507"/>
              <a:ext cx="1251507" cy="1251507"/>
              <a:chOff x="0" y="0"/>
              <a:chExt cx="1913890" cy="191389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4F1ED"/>
              </a:solidFill>
            </p:spPr>
          </p:sp>
        </p:grpSp>
        <p:grpSp>
          <p:nvGrpSpPr>
            <p:cNvPr id="40" name="Group 40"/>
            <p:cNvGrpSpPr/>
            <p:nvPr/>
          </p:nvGrpSpPr>
          <p:grpSpPr>
            <a:xfrm>
              <a:off x="1251507" y="3754522"/>
              <a:ext cx="1251507" cy="1251507"/>
              <a:chOff x="0" y="0"/>
              <a:chExt cx="1913890" cy="191389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4F1ED"/>
              </a:solidFill>
            </p:spPr>
          </p:sp>
        </p:grpSp>
        <p:grpSp>
          <p:nvGrpSpPr>
            <p:cNvPr id="42" name="Group 42"/>
            <p:cNvGrpSpPr/>
            <p:nvPr/>
          </p:nvGrpSpPr>
          <p:grpSpPr>
            <a:xfrm>
              <a:off x="3754522" y="0"/>
              <a:ext cx="1251507" cy="1251507"/>
              <a:chOff x="0" y="0"/>
              <a:chExt cx="1913890" cy="191389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6950"/>
              </a:solidFill>
            </p:spPr>
          </p:sp>
        </p:grpSp>
        <p:grpSp>
          <p:nvGrpSpPr>
            <p:cNvPr id="44" name="Group 44"/>
            <p:cNvGrpSpPr/>
            <p:nvPr/>
          </p:nvGrpSpPr>
          <p:grpSpPr>
            <a:xfrm>
              <a:off x="0" y="3754522"/>
              <a:ext cx="1251507" cy="1251507"/>
              <a:chOff x="0" y="0"/>
              <a:chExt cx="1913890" cy="191389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CF4545"/>
              </a:solidFill>
            </p:spPr>
          </p:sp>
        </p:grpSp>
        <p:grpSp>
          <p:nvGrpSpPr>
            <p:cNvPr id="46" name="Group 46"/>
            <p:cNvGrpSpPr/>
            <p:nvPr/>
          </p:nvGrpSpPr>
          <p:grpSpPr>
            <a:xfrm>
              <a:off x="2503014" y="1251507"/>
              <a:ext cx="1251507" cy="1251507"/>
              <a:chOff x="0" y="0"/>
              <a:chExt cx="1913890" cy="191389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</p:grpSp>
      </p:grpSp>
      <p:sp>
        <p:nvSpPr>
          <p:cNvPr id="48" name="TextBox 48"/>
          <p:cNvSpPr txBox="1"/>
          <p:nvPr/>
        </p:nvSpPr>
        <p:spPr>
          <a:xfrm>
            <a:off x="3754522" y="1046681"/>
            <a:ext cx="13095685" cy="830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Business Context and Problem Statement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102081" y="2217683"/>
            <a:ext cx="11276513" cy="7999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2"/>
              </a:lnSpc>
              <a:spcBef>
                <a:spcPct val="0"/>
              </a:spcBef>
            </a:pPr>
            <a:r>
              <a:rPr lang="en-US" sz="2294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Business Context</a:t>
            </a:r>
          </a:p>
          <a:p>
            <a:pPr marL="495366" lvl="1" indent="-247683" algn="l">
              <a:lnSpc>
                <a:spcPts val="3212"/>
              </a:lnSpc>
              <a:spcBef>
                <a:spcPct val="0"/>
              </a:spcBef>
              <a:buFont typeface="Arial"/>
              <a:buChar char="•"/>
            </a:pPr>
            <a:r>
              <a:rPr lang="en-US" sz="2294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Automobile service centers handle multiple vehicle service requests daily</a:t>
            </a:r>
          </a:p>
          <a:p>
            <a:pPr marL="495366" lvl="1" indent="-247683" algn="l">
              <a:lnSpc>
                <a:spcPts val="3212"/>
              </a:lnSpc>
              <a:spcBef>
                <a:spcPct val="0"/>
              </a:spcBef>
              <a:buFont typeface="Arial"/>
              <a:buChar char="•"/>
            </a:pPr>
            <a:r>
              <a:rPr lang="en-US" sz="2294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Many centers still rely on manual or semi-automated systems</a:t>
            </a:r>
          </a:p>
          <a:p>
            <a:pPr marL="495366" lvl="1" indent="-247683" algn="l">
              <a:lnSpc>
                <a:spcPts val="3212"/>
              </a:lnSpc>
              <a:spcBef>
                <a:spcPct val="0"/>
              </a:spcBef>
              <a:buFont typeface="Arial"/>
              <a:buChar char="•"/>
            </a:pPr>
            <a:r>
              <a:rPr lang="en-US" sz="2294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This leads to operational inefficiencies and management challenges</a:t>
            </a:r>
          </a:p>
          <a:p>
            <a:pPr algn="l">
              <a:lnSpc>
                <a:spcPts val="3212"/>
              </a:lnSpc>
              <a:spcBef>
                <a:spcPct val="0"/>
              </a:spcBef>
            </a:pPr>
            <a:endParaRPr lang="en-US" sz="2294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l">
              <a:lnSpc>
                <a:spcPts val="3212"/>
              </a:lnSpc>
              <a:spcBef>
                <a:spcPct val="0"/>
              </a:spcBef>
            </a:pPr>
            <a:r>
              <a:rPr lang="en-US" sz="2294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Key Challenges</a:t>
            </a:r>
          </a:p>
          <a:p>
            <a:pPr marL="495366" lvl="1" indent="-247683" algn="l">
              <a:lnSpc>
                <a:spcPts val="3212"/>
              </a:lnSpc>
              <a:spcBef>
                <a:spcPct val="0"/>
              </a:spcBef>
              <a:buFont typeface="Arial"/>
              <a:buChar char="•"/>
            </a:pPr>
            <a:r>
              <a:rPr lang="en-US" sz="2294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Service Tracking Issues</a:t>
            </a:r>
          </a:p>
          <a:p>
            <a:pPr marL="990732" lvl="2" indent="-330244" algn="l">
              <a:lnSpc>
                <a:spcPts val="3212"/>
              </a:lnSpc>
              <a:spcBef>
                <a:spcPct val="0"/>
              </a:spcBef>
              <a:buFont typeface="Arial"/>
              <a:buChar char="⚬"/>
            </a:pPr>
            <a:r>
              <a:rPr lang="en-US" sz="2294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Difficulty tracking service requests and vehicle service history</a:t>
            </a:r>
          </a:p>
          <a:p>
            <a:pPr marL="495366" lvl="1" indent="-247683" algn="l">
              <a:lnSpc>
                <a:spcPts val="3212"/>
              </a:lnSpc>
              <a:spcBef>
                <a:spcPct val="0"/>
              </a:spcBef>
              <a:buFont typeface="Arial"/>
              <a:buChar char="•"/>
            </a:pPr>
            <a:r>
              <a:rPr lang="en-US" sz="2294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Technician Management Issues</a:t>
            </a:r>
          </a:p>
          <a:p>
            <a:pPr marL="990732" lvl="2" indent="-330244" algn="l">
              <a:lnSpc>
                <a:spcPts val="3212"/>
              </a:lnSpc>
              <a:spcBef>
                <a:spcPct val="0"/>
              </a:spcBef>
              <a:buFont typeface="Arial"/>
              <a:buChar char="⚬"/>
            </a:pPr>
            <a:r>
              <a:rPr lang="en-US" sz="2294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Poor scheduling and uneven workload distribution</a:t>
            </a:r>
          </a:p>
          <a:p>
            <a:pPr marL="495366" lvl="1" indent="-247683" algn="l">
              <a:lnSpc>
                <a:spcPts val="3212"/>
              </a:lnSpc>
              <a:spcBef>
                <a:spcPct val="0"/>
              </a:spcBef>
              <a:buFont typeface="Arial"/>
              <a:buChar char="•"/>
            </a:pPr>
            <a:r>
              <a:rPr lang="en-US" sz="2294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Inventory &amp; Parts Issues</a:t>
            </a:r>
          </a:p>
          <a:p>
            <a:pPr marL="990732" lvl="2" indent="-330244" algn="l">
              <a:lnSpc>
                <a:spcPts val="3212"/>
              </a:lnSpc>
              <a:spcBef>
                <a:spcPct val="0"/>
              </a:spcBef>
              <a:buFont typeface="Arial"/>
              <a:buChar char="⚬"/>
            </a:pPr>
            <a:r>
              <a:rPr lang="en-US" sz="2294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Low-stock situations and parts availability delays</a:t>
            </a:r>
          </a:p>
          <a:p>
            <a:pPr marL="495366" lvl="1" indent="-247683" algn="l">
              <a:lnSpc>
                <a:spcPts val="3212"/>
              </a:lnSpc>
              <a:spcBef>
                <a:spcPct val="0"/>
              </a:spcBef>
              <a:buFont typeface="Arial"/>
              <a:buChar char="•"/>
            </a:pPr>
            <a:r>
              <a:rPr lang="en-US" sz="2294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Billing &amp; Payment Issues</a:t>
            </a:r>
          </a:p>
          <a:p>
            <a:pPr marL="990732" lvl="2" indent="-330244" algn="l">
              <a:lnSpc>
                <a:spcPts val="3212"/>
              </a:lnSpc>
              <a:spcBef>
                <a:spcPct val="0"/>
              </a:spcBef>
              <a:buFont typeface="Arial"/>
              <a:buChar char="⚬"/>
            </a:pPr>
            <a:r>
              <a:rPr lang="en-US" sz="2294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Manual invoice generation and payment tracking delays</a:t>
            </a:r>
          </a:p>
          <a:p>
            <a:pPr marL="495366" lvl="1" indent="-247683" algn="l">
              <a:lnSpc>
                <a:spcPts val="3212"/>
              </a:lnSpc>
              <a:spcBef>
                <a:spcPct val="0"/>
              </a:spcBef>
              <a:buFont typeface="Arial"/>
              <a:buChar char="•"/>
            </a:pPr>
            <a:r>
              <a:rPr lang="en-US" sz="2294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Reporting &amp; Analytics Issues</a:t>
            </a:r>
          </a:p>
          <a:p>
            <a:pPr marL="990732" lvl="2" indent="-330244" algn="l">
              <a:lnSpc>
                <a:spcPts val="3212"/>
              </a:lnSpc>
              <a:spcBef>
                <a:spcPct val="0"/>
              </a:spcBef>
              <a:buFont typeface="Arial"/>
              <a:buChar char="⚬"/>
            </a:pPr>
            <a:r>
              <a:rPr lang="en-US" sz="2294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Lack of consolidated reports on revenue and workload</a:t>
            </a:r>
          </a:p>
          <a:p>
            <a:pPr marL="495366" lvl="1" indent="-247683" algn="l">
              <a:lnSpc>
                <a:spcPts val="3212"/>
              </a:lnSpc>
              <a:spcBef>
                <a:spcPct val="0"/>
              </a:spcBef>
              <a:buFont typeface="Arial"/>
              <a:buChar char="•"/>
            </a:pPr>
            <a:r>
              <a:rPr lang="en-US" sz="2294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Customer Experience Issues</a:t>
            </a:r>
          </a:p>
          <a:p>
            <a:pPr marL="990732" lvl="2" indent="-330244" algn="l">
              <a:lnSpc>
                <a:spcPts val="3212"/>
              </a:lnSpc>
              <a:spcBef>
                <a:spcPct val="0"/>
              </a:spcBef>
              <a:buFont typeface="Arial"/>
              <a:buChar char="⚬"/>
            </a:pPr>
            <a:r>
              <a:rPr lang="en-US" sz="2294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Limited visibility into service status and billing details</a:t>
            </a:r>
          </a:p>
          <a:p>
            <a:pPr algn="l">
              <a:lnSpc>
                <a:spcPts val="3212"/>
              </a:lnSpc>
              <a:spcBef>
                <a:spcPct val="0"/>
              </a:spcBef>
            </a:pPr>
            <a:endParaRPr lang="en-US" sz="2294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l">
              <a:lnSpc>
                <a:spcPts val="3212"/>
              </a:lnSpc>
              <a:spcBef>
                <a:spcPct val="0"/>
              </a:spcBef>
            </a:pPr>
            <a:endParaRPr lang="en-US" sz="2294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533478" y="6532478"/>
            <a:ext cx="3754522" cy="3754522"/>
            <a:chOff x="0" y="0"/>
            <a:chExt cx="5006029" cy="5006029"/>
          </a:xfrm>
        </p:grpSpPr>
        <p:grpSp>
          <p:nvGrpSpPr>
            <p:cNvPr id="3" name="Group 3"/>
            <p:cNvGrpSpPr/>
            <p:nvPr/>
          </p:nvGrpSpPr>
          <p:grpSpPr>
            <a:xfrm>
              <a:off x="2503014" y="2503014"/>
              <a:ext cx="1251507" cy="1251507"/>
              <a:chOff x="0" y="0"/>
              <a:chExt cx="1913890" cy="191389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65212A"/>
              </a:solidFill>
            </p:spPr>
          </p:sp>
        </p:grpSp>
        <p:grpSp>
          <p:nvGrpSpPr>
            <p:cNvPr id="5" name="Group 5"/>
            <p:cNvGrpSpPr/>
            <p:nvPr/>
          </p:nvGrpSpPr>
          <p:grpSpPr>
            <a:xfrm>
              <a:off x="2503014" y="1251507"/>
              <a:ext cx="1251507" cy="1251507"/>
              <a:chOff x="0" y="0"/>
              <a:chExt cx="1913890" cy="191389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CF4545"/>
              </a:solidFill>
            </p:spPr>
          </p:sp>
        </p:grpSp>
        <p:grpSp>
          <p:nvGrpSpPr>
            <p:cNvPr id="7" name="Group 7"/>
            <p:cNvGrpSpPr/>
            <p:nvPr/>
          </p:nvGrpSpPr>
          <p:grpSpPr>
            <a:xfrm>
              <a:off x="1251507" y="2503014"/>
              <a:ext cx="1251507" cy="1251507"/>
              <a:chOff x="0" y="0"/>
              <a:chExt cx="1913890" cy="191389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6950"/>
              </a:solidFill>
            </p:spPr>
          </p:sp>
        </p:grpSp>
        <p:grpSp>
          <p:nvGrpSpPr>
            <p:cNvPr id="9" name="Group 9"/>
            <p:cNvGrpSpPr/>
            <p:nvPr/>
          </p:nvGrpSpPr>
          <p:grpSpPr>
            <a:xfrm>
              <a:off x="3754522" y="3754522"/>
              <a:ext cx="1251507" cy="1251507"/>
              <a:chOff x="0" y="0"/>
              <a:chExt cx="1913890" cy="191389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65212A"/>
              </a:solidFill>
            </p:spPr>
          </p:sp>
        </p:grpSp>
        <p:grpSp>
          <p:nvGrpSpPr>
            <p:cNvPr id="11" name="Group 11"/>
            <p:cNvGrpSpPr/>
            <p:nvPr/>
          </p:nvGrpSpPr>
          <p:grpSpPr>
            <a:xfrm>
              <a:off x="3754522" y="2503014"/>
              <a:ext cx="1251507" cy="1251507"/>
              <a:chOff x="0" y="0"/>
              <a:chExt cx="1913890" cy="191389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6950"/>
              </a:solidFill>
            </p:spPr>
          </p:sp>
        </p:grpSp>
        <p:grpSp>
          <p:nvGrpSpPr>
            <p:cNvPr id="13" name="Group 13"/>
            <p:cNvGrpSpPr/>
            <p:nvPr/>
          </p:nvGrpSpPr>
          <p:grpSpPr>
            <a:xfrm>
              <a:off x="2503014" y="3754522"/>
              <a:ext cx="1251507" cy="1251507"/>
              <a:chOff x="0" y="0"/>
              <a:chExt cx="1913890" cy="191389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CF4545"/>
              </a:solidFill>
            </p:spPr>
          </p:sp>
        </p:grpSp>
        <p:grpSp>
          <p:nvGrpSpPr>
            <p:cNvPr id="15" name="Group 15"/>
            <p:cNvGrpSpPr/>
            <p:nvPr/>
          </p:nvGrpSpPr>
          <p:grpSpPr>
            <a:xfrm>
              <a:off x="3754522" y="1251507"/>
              <a:ext cx="1251507" cy="1251507"/>
              <a:chOff x="0" y="0"/>
              <a:chExt cx="1913890" cy="191389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65212A"/>
              </a:solidFill>
            </p:spPr>
          </p:sp>
        </p:grpSp>
        <p:grpSp>
          <p:nvGrpSpPr>
            <p:cNvPr id="17" name="Group 17"/>
            <p:cNvGrpSpPr/>
            <p:nvPr/>
          </p:nvGrpSpPr>
          <p:grpSpPr>
            <a:xfrm>
              <a:off x="1251507" y="3754522"/>
              <a:ext cx="1251507" cy="1251507"/>
              <a:chOff x="0" y="0"/>
              <a:chExt cx="1913890" cy="191389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65212A"/>
              </a:solidFill>
            </p:spPr>
          </p:sp>
        </p:grpSp>
        <p:grpSp>
          <p:nvGrpSpPr>
            <p:cNvPr id="19" name="Group 19"/>
            <p:cNvGrpSpPr/>
            <p:nvPr/>
          </p:nvGrpSpPr>
          <p:grpSpPr>
            <a:xfrm>
              <a:off x="3754522" y="0"/>
              <a:ext cx="1251507" cy="1251507"/>
              <a:chOff x="0" y="0"/>
              <a:chExt cx="1913890" cy="191389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6950"/>
              </a:solidFill>
            </p:spPr>
          </p:sp>
        </p:grpSp>
        <p:grpSp>
          <p:nvGrpSpPr>
            <p:cNvPr id="21" name="Group 21"/>
            <p:cNvGrpSpPr/>
            <p:nvPr/>
          </p:nvGrpSpPr>
          <p:grpSpPr>
            <a:xfrm>
              <a:off x="0" y="3754522"/>
              <a:ext cx="1251507" cy="1251507"/>
              <a:chOff x="0" y="0"/>
              <a:chExt cx="1913890" cy="191389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CF4545"/>
              </a:solidFill>
            </p:spPr>
          </p:sp>
        </p:grpSp>
        <p:grpSp>
          <p:nvGrpSpPr>
            <p:cNvPr id="23" name="Group 23"/>
            <p:cNvGrpSpPr/>
            <p:nvPr/>
          </p:nvGrpSpPr>
          <p:grpSpPr>
            <a:xfrm>
              <a:off x="2503014" y="1251507"/>
              <a:ext cx="1251507" cy="1251507"/>
              <a:chOff x="0" y="0"/>
              <a:chExt cx="1913890" cy="191389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</p:grpSp>
      </p:grpSp>
      <p:sp>
        <p:nvSpPr>
          <p:cNvPr id="25" name="TextBox 25"/>
          <p:cNvSpPr txBox="1"/>
          <p:nvPr/>
        </p:nvSpPr>
        <p:spPr>
          <a:xfrm>
            <a:off x="17565394" y="384175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CF4545"/>
                </a:solidFill>
                <a:latin typeface="Public Sans"/>
                <a:ea typeface="Public Sans"/>
                <a:cs typeface="Public Sans"/>
                <a:sym typeface="Public Sans"/>
              </a:rPr>
              <a:t>4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49197" y="2148929"/>
            <a:ext cx="14085094" cy="7849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3"/>
              </a:lnSpc>
              <a:spcBef>
                <a:spcPct val="0"/>
              </a:spcBef>
            </a:pPr>
            <a:r>
              <a:rPr lang="en-US" sz="2952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Centralized Vehicle Service Management System</a:t>
            </a:r>
          </a:p>
          <a:p>
            <a:pPr marL="637384" lvl="1" indent="-318692" algn="l">
              <a:lnSpc>
                <a:spcPts val="4133"/>
              </a:lnSpc>
              <a:spcBef>
                <a:spcPct val="0"/>
              </a:spcBef>
              <a:buFont typeface="Arial"/>
              <a:buChar char="•"/>
            </a:pPr>
            <a:r>
              <a:rPr lang="en-US" sz="2952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Develop a centralized and secure system to manage service center operations</a:t>
            </a:r>
          </a:p>
          <a:p>
            <a:pPr algn="l">
              <a:lnSpc>
                <a:spcPts val="4133"/>
              </a:lnSpc>
              <a:spcBef>
                <a:spcPct val="0"/>
              </a:spcBef>
            </a:pPr>
            <a:endParaRPr lang="en-US" sz="2952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l">
              <a:lnSpc>
                <a:spcPts val="4133"/>
              </a:lnSpc>
              <a:spcBef>
                <a:spcPct val="0"/>
              </a:spcBef>
            </a:pPr>
            <a:r>
              <a:rPr lang="en-US" sz="2952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System Capabilities</a:t>
            </a:r>
          </a:p>
          <a:p>
            <a:pPr marL="637384" lvl="1" indent="-318692" algn="l">
              <a:lnSpc>
                <a:spcPts val="4133"/>
              </a:lnSpc>
              <a:spcBef>
                <a:spcPct val="0"/>
              </a:spcBef>
              <a:buFont typeface="Arial"/>
              <a:buChar char="•"/>
            </a:pPr>
            <a:r>
              <a:rPr lang="en-US" sz="2952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Service Management</a:t>
            </a:r>
          </a:p>
          <a:p>
            <a:pPr marL="1274768" lvl="2" indent="-424923" algn="l">
              <a:lnSpc>
                <a:spcPts val="4133"/>
              </a:lnSpc>
              <a:spcBef>
                <a:spcPct val="0"/>
              </a:spcBef>
              <a:buFont typeface="Arial"/>
              <a:buChar char="⚬"/>
            </a:pPr>
            <a:r>
              <a:rPr lang="en-US" sz="2952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Create, track, and manage vehicle service requests</a:t>
            </a:r>
          </a:p>
          <a:p>
            <a:pPr marL="637384" lvl="1" indent="-318692" algn="l">
              <a:lnSpc>
                <a:spcPts val="4133"/>
              </a:lnSpc>
              <a:spcBef>
                <a:spcPct val="0"/>
              </a:spcBef>
              <a:buFont typeface="Arial"/>
              <a:buChar char="•"/>
            </a:pPr>
            <a:r>
              <a:rPr lang="en-US" sz="2952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Technician Management</a:t>
            </a:r>
          </a:p>
          <a:p>
            <a:pPr marL="1274768" lvl="2" indent="-424923" algn="l">
              <a:lnSpc>
                <a:spcPts val="4133"/>
              </a:lnSpc>
              <a:spcBef>
                <a:spcPct val="0"/>
              </a:spcBef>
              <a:buFont typeface="Arial"/>
              <a:buChar char="⚬"/>
            </a:pPr>
            <a:r>
              <a:rPr lang="en-US" sz="2952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Assign technicians and monitor service progress</a:t>
            </a:r>
          </a:p>
          <a:p>
            <a:pPr marL="637384" lvl="1" indent="-318692" algn="l">
              <a:lnSpc>
                <a:spcPts val="4133"/>
              </a:lnSpc>
              <a:spcBef>
                <a:spcPct val="0"/>
              </a:spcBef>
              <a:buFont typeface="Arial"/>
              <a:buChar char="•"/>
            </a:pPr>
            <a:r>
              <a:rPr lang="en-US" sz="2952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Inventory Management</a:t>
            </a:r>
          </a:p>
          <a:p>
            <a:pPr marL="1274768" lvl="2" indent="-424923" algn="l">
              <a:lnSpc>
                <a:spcPts val="4133"/>
              </a:lnSpc>
              <a:spcBef>
                <a:spcPct val="0"/>
              </a:spcBef>
              <a:buFont typeface="Arial"/>
              <a:buChar char="⚬"/>
            </a:pPr>
            <a:r>
              <a:rPr lang="en-US" sz="2952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Track spare parts and low-stock situations</a:t>
            </a:r>
          </a:p>
          <a:p>
            <a:pPr marL="637384" lvl="1" indent="-318692" algn="l">
              <a:lnSpc>
                <a:spcPts val="4133"/>
              </a:lnSpc>
              <a:spcBef>
                <a:spcPct val="0"/>
              </a:spcBef>
              <a:buFont typeface="Arial"/>
              <a:buChar char="•"/>
            </a:pPr>
            <a:r>
              <a:rPr lang="en-US" sz="2952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Billing &amp; Payments</a:t>
            </a:r>
          </a:p>
          <a:p>
            <a:pPr marL="1274768" lvl="2" indent="-424923" algn="l">
              <a:lnSpc>
                <a:spcPts val="4133"/>
              </a:lnSpc>
              <a:spcBef>
                <a:spcPct val="0"/>
              </a:spcBef>
              <a:buFont typeface="Arial"/>
              <a:buChar char="⚬"/>
            </a:pPr>
            <a:r>
              <a:rPr lang="en-US" sz="2952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Automate invoice generation and payment tracking</a:t>
            </a:r>
          </a:p>
          <a:p>
            <a:pPr marL="637384" lvl="1" indent="-318692" algn="l">
              <a:lnSpc>
                <a:spcPts val="4133"/>
              </a:lnSpc>
              <a:spcBef>
                <a:spcPct val="0"/>
              </a:spcBef>
              <a:buFont typeface="Arial"/>
              <a:buChar char="•"/>
            </a:pPr>
            <a:r>
              <a:rPr lang="en-US" sz="2952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Reporting &amp; Analytics</a:t>
            </a:r>
          </a:p>
          <a:p>
            <a:pPr marL="1274768" lvl="2" indent="-424923" algn="l">
              <a:lnSpc>
                <a:spcPts val="4133"/>
              </a:lnSpc>
              <a:spcBef>
                <a:spcPct val="0"/>
              </a:spcBef>
              <a:buFont typeface="Arial"/>
              <a:buChar char="⚬"/>
            </a:pPr>
            <a:r>
              <a:rPr lang="en-US" sz="2952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Dashboards and reports for revenue, workload, and service trends</a:t>
            </a:r>
          </a:p>
          <a:p>
            <a:pPr algn="l">
              <a:lnSpc>
                <a:spcPts val="4133"/>
              </a:lnSpc>
              <a:spcBef>
                <a:spcPct val="0"/>
              </a:spcBef>
            </a:pPr>
            <a:endParaRPr lang="en-US" sz="2952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284605" y="923925"/>
            <a:ext cx="5801995" cy="7858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799" b="1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Proposed Solution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77261" y="923925"/>
            <a:ext cx="12775904" cy="830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19"/>
              </a:lnSpc>
              <a:spcBef>
                <a:spcPct val="0"/>
              </a:spcBef>
            </a:pPr>
            <a:r>
              <a:rPr lang="en-US" sz="4800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Project Objective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62516" y="2401369"/>
            <a:ext cx="13464730" cy="7310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6"/>
              </a:lnSpc>
            </a:pPr>
            <a:r>
              <a:rPr lang="en-US" sz="2176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Primary Goal</a:t>
            </a:r>
          </a:p>
          <a:p>
            <a:pPr marL="469799" lvl="1" indent="-234899" algn="l">
              <a:lnSpc>
                <a:spcPts val="3046"/>
              </a:lnSpc>
              <a:buFont typeface="Arial"/>
              <a:buChar char="•"/>
            </a:pPr>
            <a:r>
              <a:rPr lang="en-US" sz="217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To design and develop a secure, scalable, full-stack Vehicle Service Management System</a:t>
            </a:r>
          </a:p>
          <a:p>
            <a:pPr marL="469799" lvl="1" indent="-234899" algn="l">
              <a:lnSpc>
                <a:spcPts val="3046"/>
              </a:lnSpc>
              <a:buFont typeface="Arial"/>
              <a:buChar char="•"/>
            </a:pPr>
            <a:r>
              <a:rPr lang="en-US" sz="217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To digitize and automate service center operations 6.Vehicle Management System\</a:t>
            </a:r>
          </a:p>
          <a:p>
            <a:pPr algn="l">
              <a:lnSpc>
                <a:spcPts val="3046"/>
              </a:lnSpc>
            </a:pPr>
            <a:endParaRPr lang="en-US" sz="2176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l">
              <a:lnSpc>
                <a:spcPts val="3046"/>
              </a:lnSpc>
            </a:pPr>
            <a:r>
              <a:rPr lang="en-US" sz="2176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Core Development Goals</a:t>
            </a:r>
          </a:p>
          <a:p>
            <a:pPr marL="469799" lvl="1" indent="-234899" algn="l">
              <a:lnSpc>
                <a:spcPts val="3046"/>
              </a:lnSpc>
              <a:buFont typeface="Arial"/>
              <a:buChar char="•"/>
            </a:pPr>
            <a:r>
              <a:rPr lang="en-US" sz="217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Modern Full-Stack Architecture</a:t>
            </a:r>
          </a:p>
          <a:p>
            <a:pPr marL="939597" lvl="2" indent="-313199" algn="l">
              <a:lnSpc>
                <a:spcPts val="3046"/>
              </a:lnSpc>
              <a:buFont typeface="Arial"/>
              <a:buChar char="⚬"/>
            </a:pPr>
            <a:r>
              <a:rPr lang="en-US" sz="217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ASP.NET Core Web API (Backend) + Angular (Frontend) </a:t>
            </a:r>
          </a:p>
          <a:p>
            <a:pPr marL="469799" lvl="1" indent="-234899" algn="l">
              <a:lnSpc>
                <a:spcPts val="3046"/>
              </a:lnSpc>
              <a:buFont typeface="Arial"/>
              <a:buChar char="•"/>
            </a:pPr>
            <a:r>
              <a:rPr lang="en-US" sz="217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Role-Based Security</a:t>
            </a:r>
          </a:p>
          <a:p>
            <a:pPr marL="939597" lvl="2" indent="-313199" algn="l">
              <a:lnSpc>
                <a:spcPts val="3046"/>
              </a:lnSpc>
              <a:buFont typeface="Arial"/>
              <a:buChar char="⚬"/>
            </a:pPr>
            <a:r>
              <a:rPr lang="en-US" sz="217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JWT-based authentication with RBAC (Admin, Service Manager, Technician, Customer) </a:t>
            </a:r>
          </a:p>
          <a:p>
            <a:pPr marL="469799" lvl="1" indent="-234899" algn="l">
              <a:lnSpc>
                <a:spcPts val="3046"/>
              </a:lnSpc>
              <a:buFont typeface="Arial"/>
              <a:buChar char="•"/>
            </a:pPr>
            <a:r>
              <a:rPr lang="en-US" sz="217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Data Accuracy &amp; Maintainability</a:t>
            </a:r>
          </a:p>
          <a:p>
            <a:pPr marL="939597" lvl="2" indent="-313199" algn="l">
              <a:lnSpc>
                <a:spcPts val="3046"/>
              </a:lnSpc>
              <a:buFont typeface="Arial"/>
              <a:buChar char="⚬"/>
            </a:pPr>
            <a:r>
              <a:rPr lang="en-US" sz="217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Clean Architecture, EF Core, and LINQ-based querying </a:t>
            </a:r>
          </a:p>
          <a:p>
            <a:pPr marL="469799" lvl="1" indent="-234899" algn="l">
              <a:lnSpc>
                <a:spcPts val="3046"/>
              </a:lnSpc>
              <a:buFont typeface="Arial"/>
              <a:buChar char="•"/>
            </a:pPr>
            <a:r>
              <a:rPr lang="en-US" sz="217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Real-World Workflow Automation</a:t>
            </a:r>
          </a:p>
          <a:p>
            <a:pPr marL="939597" lvl="2" indent="-313199" algn="l">
              <a:lnSpc>
                <a:spcPts val="3046"/>
              </a:lnSpc>
              <a:buFont typeface="Arial"/>
              <a:buChar char="⚬"/>
            </a:pPr>
            <a:r>
              <a:rPr lang="en-US" sz="217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Service lifecycle: Requested → Assigned → In Progress → Completed → Closed  Billing/Invoice).</a:t>
            </a:r>
          </a:p>
          <a:p>
            <a:pPr algn="l">
              <a:lnSpc>
                <a:spcPts val="3046"/>
              </a:lnSpc>
            </a:pPr>
            <a:r>
              <a:rPr lang="en-US" sz="2176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Expected Outcomes</a:t>
            </a:r>
          </a:p>
          <a:p>
            <a:pPr marL="469799" lvl="1" indent="-234899" algn="l">
              <a:lnSpc>
                <a:spcPts val="3046"/>
              </a:lnSpc>
              <a:buFont typeface="Arial"/>
              <a:buChar char="•"/>
            </a:pPr>
            <a:r>
              <a:rPr lang="en-US" sz="217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Efficient service request management and tracking</a:t>
            </a:r>
          </a:p>
          <a:p>
            <a:pPr marL="469799" lvl="1" indent="-234899" algn="l">
              <a:lnSpc>
                <a:spcPts val="3046"/>
              </a:lnSpc>
              <a:buFont typeface="Arial"/>
              <a:buChar char="•"/>
            </a:pPr>
            <a:r>
              <a:rPr lang="en-US" sz="217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Better technician assignment and workload visibility</a:t>
            </a:r>
          </a:p>
          <a:p>
            <a:pPr marL="469799" lvl="1" indent="-234899" algn="l">
              <a:lnSpc>
                <a:spcPts val="3046"/>
              </a:lnSpc>
              <a:buFont typeface="Arial"/>
              <a:buChar char="•"/>
            </a:pPr>
            <a:r>
              <a:rPr lang="en-US" sz="217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Improved parts inventory and billing visibility</a:t>
            </a:r>
          </a:p>
          <a:p>
            <a:pPr marL="469799" lvl="1" indent="-234899" algn="l">
              <a:lnSpc>
                <a:spcPts val="3046"/>
              </a:lnSpc>
              <a:buFont typeface="Arial"/>
              <a:buChar char="•"/>
            </a:pPr>
            <a:r>
              <a:rPr lang="en-US" sz="217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Dashboards and reports for decision-making and transparency</a:t>
            </a:r>
          </a:p>
          <a:p>
            <a:pPr marL="0" lvl="0" indent="0" algn="l">
              <a:lnSpc>
                <a:spcPts val="3046"/>
              </a:lnSpc>
              <a:spcBef>
                <a:spcPct val="0"/>
              </a:spcBef>
            </a:pPr>
            <a:endParaRPr lang="en-US" sz="2176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grpSp>
        <p:nvGrpSpPr>
          <p:cNvPr id="4" name="Group 4"/>
          <p:cNvGrpSpPr/>
          <p:nvPr/>
        </p:nvGrpSpPr>
        <p:grpSpPr>
          <a:xfrm rot="-10800000">
            <a:off x="0" y="0"/>
            <a:ext cx="1877261" cy="1877261"/>
            <a:chOff x="0" y="0"/>
            <a:chExt cx="2503014" cy="2503014"/>
          </a:xfrm>
        </p:grpSpPr>
        <p:grpSp>
          <p:nvGrpSpPr>
            <p:cNvPr id="5" name="Group 5"/>
            <p:cNvGrpSpPr/>
            <p:nvPr/>
          </p:nvGrpSpPr>
          <p:grpSpPr>
            <a:xfrm>
              <a:off x="1251507" y="1251507"/>
              <a:ext cx="1251507" cy="1251507"/>
              <a:chOff x="0" y="0"/>
              <a:chExt cx="1913890" cy="191389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65212A"/>
              </a:solidFill>
            </p:spPr>
          </p:sp>
        </p:grpSp>
        <p:grpSp>
          <p:nvGrpSpPr>
            <p:cNvPr id="7" name="Group 7"/>
            <p:cNvGrpSpPr/>
            <p:nvPr/>
          </p:nvGrpSpPr>
          <p:grpSpPr>
            <a:xfrm>
              <a:off x="1251507" y="0"/>
              <a:ext cx="1251507" cy="1251507"/>
              <a:chOff x="0" y="0"/>
              <a:chExt cx="1913890" cy="191389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CF4545"/>
              </a:solidFill>
            </p:spPr>
          </p:sp>
        </p:grpSp>
        <p:grpSp>
          <p:nvGrpSpPr>
            <p:cNvPr id="9" name="Group 9"/>
            <p:cNvGrpSpPr/>
            <p:nvPr/>
          </p:nvGrpSpPr>
          <p:grpSpPr>
            <a:xfrm>
              <a:off x="0" y="1251507"/>
              <a:ext cx="1251507" cy="1251507"/>
              <a:chOff x="0" y="0"/>
              <a:chExt cx="1913890" cy="191389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6950"/>
              </a:solidFill>
            </p:spPr>
          </p:sp>
        </p:grpSp>
      </p:grpSp>
      <p:sp>
        <p:nvSpPr>
          <p:cNvPr id="11" name="TextBox 11"/>
          <p:cNvSpPr txBox="1"/>
          <p:nvPr/>
        </p:nvSpPr>
        <p:spPr>
          <a:xfrm>
            <a:off x="17565394" y="384175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CF4545"/>
                </a:solidFill>
                <a:latin typeface="Public Sans"/>
                <a:ea typeface="Public Sans"/>
                <a:cs typeface="Public Sans"/>
                <a:sym typeface="Public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837474" y="0"/>
            <a:ext cx="450526" cy="10287000"/>
            <a:chOff x="0" y="0"/>
            <a:chExt cx="152400" cy="3479800"/>
          </a:xfrm>
        </p:grpSpPr>
        <p:sp>
          <p:nvSpPr>
            <p:cNvPr id="3" name="Freeform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152400" cy="3479800"/>
            </a:xfrm>
            <a:custGeom>
              <a:avLst/>
              <a:gdLst/>
              <a:ahLst/>
              <a:cxnLst/>
              <a:rect l="l" t="t" r="r" b="b"/>
              <a:pathLst>
                <a:path w="152400" h="3479800">
                  <a:moveTo>
                    <a:pt x="0" y="0"/>
                  </a:moveTo>
                  <a:lnTo>
                    <a:pt x="152400" y="0"/>
                  </a:lnTo>
                  <a:lnTo>
                    <a:pt x="152400" y="3479800"/>
                  </a:lnTo>
                  <a:lnTo>
                    <a:pt x="0" y="3479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588703" y="1617392"/>
            <a:ext cx="5985083" cy="2470207"/>
          </a:xfrm>
          <a:custGeom>
            <a:avLst/>
            <a:gdLst/>
            <a:ahLst/>
            <a:cxnLst/>
            <a:rect l="l" t="t" r="r" b="b"/>
            <a:pathLst>
              <a:path w="5985083" h="2470207">
                <a:moveTo>
                  <a:pt x="0" y="0"/>
                </a:moveTo>
                <a:lnTo>
                  <a:pt x="5985083" y="0"/>
                </a:lnTo>
                <a:lnTo>
                  <a:pt x="5985083" y="2470207"/>
                </a:lnTo>
                <a:lnTo>
                  <a:pt x="0" y="24702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38630" y="511137"/>
            <a:ext cx="8662488" cy="830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19"/>
              </a:lnSpc>
              <a:spcBef>
                <a:spcPct val="0"/>
              </a:spcBef>
            </a:pPr>
            <a:r>
              <a:rPr lang="en-US" sz="4800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Solution and Key Features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86689" y="1506210"/>
            <a:ext cx="5210872" cy="247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Service Request Management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Create, update, cancel service requests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Track lifecycle: Requested → Assigned → In-Progress → Completed → Closed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Priority-based handling (Normal / Urgent)</a:t>
            </a:r>
          </a:p>
        </p:txBody>
      </p:sp>
      <p:sp>
        <p:nvSpPr>
          <p:cNvPr id="7" name="Freeform 7"/>
          <p:cNvSpPr/>
          <p:nvPr/>
        </p:nvSpPr>
        <p:spPr>
          <a:xfrm>
            <a:off x="400237" y="7189011"/>
            <a:ext cx="5985083" cy="2470207"/>
          </a:xfrm>
          <a:custGeom>
            <a:avLst/>
            <a:gdLst/>
            <a:ahLst/>
            <a:cxnLst/>
            <a:rect l="l" t="t" r="r" b="b"/>
            <a:pathLst>
              <a:path w="5985083" h="2470207">
                <a:moveTo>
                  <a:pt x="0" y="0"/>
                </a:moveTo>
                <a:lnTo>
                  <a:pt x="5985083" y="0"/>
                </a:lnTo>
                <a:lnTo>
                  <a:pt x="5985083" y="2470207"/>
                </a:lnTo>
                <a:lnTo>
                  <a:pt x="0" y="24702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38630" y="7391993"/>
            <a:ext cx="4612179" cy="2120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Inventory &amp; Parts Management</a:t>
            </a:r>
          </a:p>
          <a:p>
            <a:pPr marL="431801" lvl="1" indent="-215900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Real-time spare parts tracking</a:t>
            </a:r>
          </a:p>
          <a:p>
            <a:pPr marL="431801" lvl="1" indent="-215900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Low-stock alerts</a:t>
            </a:r>
          </a:p>
          <a:p>
            <a:pPr marL="431801" lvl="1" indent="-215900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Automatic stock deduction when parts are used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6151458" y="4563849"/>
            <a:ext cx="5985083" cy="2470207"/>
          </a:xfrm>
          <a:custGeom>
            <a:avLst/>
            <a:gdLst/>
            <a:ahLst/>
            <a:cxnLst/>
            <a:rect l="l" t="t" r="r" b="b"/>
            <a:pathLst>
              <a:path w="5985083" h="2470207">
                <a:moveTo>
                  <a:pt x="0" y="0"/>
                </a:moveTo>
                <a:lnTo>
                  <a:pt x="5985084" y="0"/>
                </a:lnTo>
                <a:lnTo>
                  <a:pt x="5985084" y="2470207"/>
                </a:lnTo>
                <a:lnTo>
                  <a:pt x="0" y="24702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1804748" y="7309632"/>
            <a:ext cx="5985083" cy="2470207"/>
          </a:xfrm>
          <a:custGeom>
            <a:avLst/>
            <a:gdLst/>
            <a:ahLst/>
            <a:cxnLst/>
            <a:rect l="l" t="t" r="r" b="b"/>
            <a:pathLst>
              <a:path w="5985083" h="2470207">
                <a:moveTo>
                  <a:pt x="0" y="0"/>
                </a:moveTo>
                <a:lnTo>
                  <a:pt x="5985084" y="0"/>
                </a:lnTo>
                <a:lnTo>
                  <a:pt x="5985084" y="2470207"/>
                </a:lnTo>
                <a:lnTo>
                  <a:pt x="0" y="24702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1852391" y="1563360"/>
            <a:ext cx="5985083" cy="2470207"/>
          </a:xfrm>
          <a:custGeom>
            <a:avLst/>
            <a:gdLst/>
            <a:ahLst/>
            <a:cxnLst/>
            <a:rect l="l" t="t" r="r" b="b"/>
            <a:pathLst>
              <a:path w="5985083" h="2470207">
                <a:moveTo>
                  <a:pt x="0" y="0"/>
                </a:moveTo>
                <a:lnTo>
                  <a:pt x="5985083" y="0"/>
                </a:lnTo>
                <a:lnTo>
                  <a:pt x="5985083" y="2470207"/>
                </a:lnTo>
                <a:lnTo>
                  <a:pt x="0" y="24702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2219193" y="1763470"/>
            <a:ext cx="5251480" cy="2120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Technician Assignment &amp; Tracking</a:t>
            </a:r>
          </a:p>
          <a:p>
            <a:pPr marL="431801" lvl="1" indent="-215900" algn="just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Assign technicians to service requests</a:t>
            </a:r>
          </a:p>
          <a:p>
            <a:pPr marL="431801" lvl="1" indent="-215900" algn="just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Technician updates service status</a:t>
            </a:r>
          </a:p>
          <a:p>
            <a:pPr marL="431801" lvl="1" indent="-215900" algn="just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Workload visibility through LINQ-based reports</a:t>
            </a:r>
          </a:p>
          <a:p>
            <a:pPr algn="just">
              <a:lnSpc>
                <a:spcPts val="2800"/>
              </a:lnSpc>
              <a:spcBef>
                <a:spcPct val="0"/>
              </a:spcBef>
            </a:pPr>
            <a:endParaRPr lang="en-US" sz="2000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573786" y="4516224"/>
            <a:ext cx="5562755" cy="2591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2"/>
              </a:lnSpc>
            </a:pPr>
            <a:endParaRPr/>
          </a:p>
          <a:p>
            <a:pPr algn="l">
              <a:lnSpc>
                <a:spcPts val="2602"/>
              </a:lnSpc>
            </a:pPr>
            <a:r>
              <a:rPr lang="en-US" sz="1858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Billing &amp; Payments</a:t>
            </a:r>
          </a:p>
          <a:p>
            <a:pPr marL="401331" lvl="1" indent="-200666" algn="l">
              <a:lnSpc>
                <a:spcPts val="2602"/>
              </a:lnSpc>
              <a:spcBef>
                <a:spcPct val="0"/>
              </a:spcBef>
              <a:buFont typeface="Arial"/>
              <a:buChar char="•"/>
            </a:pPr>
            <a:r>
              <a:rPr lang="en-US" sz="185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Auto-generate invoices from services and parts used</a:t>
            </a:r>
          </a:p>
          <a:p>
            <a:pPr marL="401331" lvl="1" indent="-200666" algn="l">
              <a:lnSpc>
                <a:spcPts val="2602"/>
              </a:lnSpc>
              <a:spcBef>
                <a:spcPct val="0"/>
              </a:spcBef>
              <a:buFont typeface="Arial"/>
              <a:buChar char="•"/>
            </a:pPr>
            <a:r>
              <a:rPr lang="en-US" sz="185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Tax and labor charge calculations</a:t>
            </a:r>
          </a:p>
          <a:p>
            <a:pPr marL="401331" lvl="1" indent="-200666" algn="l">
              <a:lnSpc>
                <a:spcPts val="2602"/>
              </a:lnSpc>
              <a:spcBef>
                <a:spcPct val="0"/>
              </a:spcBef>
              <a:buFont typeface="Arial"/>
              <a:buChar char="•"/>
            </a:pPr>
            <a:r>
              <a:rPr lang="en-US" sz="185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Invoice lifecycle: Generated → Paid</a:t>
            </a:r>
          </a:p>
          <a:p>
            <a:pPr marL="401331" lvl="1" indent="-200666" algn="l">
              <a:lnSpc>
                <a:spcPts val="2602"/>
              </a:lnSpc>
              <a:spcBef>
                <a:spcPct val="0"/>
              </a:spcBef>
              <a:buFont typeface="Arial"/>
              <a:buChar char="•"/>
            </a:pPr>
            <a:r>
              <a:rPr lang="en-US" sz="1858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Customer payment tracking</a:t>
            </a:r>
          </a:p>
          <a:p>
            <a:pPr algn="l">
              <a:lnSpc>
                <a:spcPts val="2602"/>
              </a:lnSpc>
              <a:spcBef>
                <a:spcPct val="0"/>
              </a:spcBef>
            </a:pPr>
            <a:endParaRPr lang="en-US" sz="1858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2136542" y="7465236"/>
            <a:ext cx="5221815" cy="1983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7"/>
              </a:lnSpc>
            </a:pPr>
            <a:r>
              <a:rPr lang="en-US" sz="187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1876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Reports &amp; Analytics (LINQ)</a:t>
            </a:r>
          </a:p>
          <a:p>
            <a:pPr marL="405137" lvl="1" indent="-202569" algn="l">
              <a:lnSpc>
                <a:spcPts val="2627"/>
              </a:lnSpc>
              <a:spcBef>
                <a:spcPct val="0"/>
              </a:spcBef>
              <a:buFont typeface="Arial"/>
              <a:buChar char="•"/>
            </a:pPr>
            <a:r>
              <a:rPr lang="en-US" sz="187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Monthly service &amp; revenue reports</a:t>
            </a:r>
          </a:p>
          <a:p>
            <a:pPr marL="405137" lvl="1" indent="-202569" algn="l">
              <a:lnSpc>
                <a:spcPts val="2627"/>
              </a:lnSpc>
              <a:spcBef>
                <a:spcPct val="0"/>
              </a:spcBef>
              <a:buFont typeface="Arial"/>
              <a:buChar char="•"/>
            </a:pPr>
            <a:r>
              <a:rPr lang="en-US" sz="187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Technician workload analysis</a:t>
            </a:r>
          </a:p>
          <a:p>
            <a:pPr marL="405137" lvl="1" indent="-202569" algn="l">
              <a:lnSpc>
                <a:spcPts val="2627"/>
              </a:lnSpc>
              <a:spcBef>
                <a:spcPct val="0"/>
              </a:spcBef>
              <a:buFont typeface="Arial"/>
              <a:buChar char="•"/>
            </a:pPr>
            <a:r>
              <a:rPr lang="en-US" sz="187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Vehicle service history</a:t>
            </a:r>
          </a:p>
          <a:p>
            <a:pPr marL="405137" lvl="1" indent="-202569" algn="l">
              <a:lnSpc>
                <a:spcPts val="2627"/>
              </a:lnSpc>
              <a:spcBef>
                <a:spcPct val="0"/>
              </a:spcBef>
              <a:buFont typeface="Arial"/>
              <a:buChar char="•"/>
            </a:pPr>
            <a:r>
              <a:rPr lang="en-US" sz="187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Category-wise service and revenue analysis</a:t>
            </a:r>
          </a:p>
          <a:p>
            <a:pPr algn="l">
              <a:lnSpc>
                <a:spcPts val="2627"/>
              </a:lnSpc>
              <a:spcBef>
                <a:spcPct val="0"/>
              </a:spcBef>
            </a:pPr>
            <a:endParaRPr lang="en-US" sz="1876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2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71305" y="923925"/>
            <a:ext cx="10605823" cy="830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19"/>
              </a:lnSpc>
              <a:spcBef>
                <a:spcPct val="0"/>
              </a:spcBef>
            </a:pPr>
            <a:r>
              <a:rPr lang="en-US" sz="4800" b="1">
                <a:solidFill>
                  <a:srgbClr val="F4F1ED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Technology Stack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4533478" y="6532478"/>
            <a:ext cx="3754522" cy="3754522"/>
            <a:chOff x="0" y="0"/>
            <a:chExt cx="5006029" cy="5006029"/>
          </a:xfrm>
        </p:grpSpPr>
        <p:grpSp>
          <p:nvGrpSpPr>
            <p:cNvPr id="4" name="Group 4"/>
            <p:cNvGrpSpPr/>
            <p:nvPr/>
          </p:nvGrpSpPr>
          <p:grpSpPr>
            <a:xfrm>
              <a:off x="2503014" y="2503014"/>
              <a:ext cx="1251507" cy="1251507"/>
              <a:chOff x="0" y="0"/>
              <a:chExt cx="1913890" cy="191389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65212A"/>
              </a:solidFill>
            </p:spPr>
          </p:sp>
        </p:grpSp>
        <p:grpSp>
          <p:nvGrpSpPr>
            <p:cNvPr id="6" name="Group 6"/>
            <p:cNvGrpSpPr/>
            <p:nvPr/>
          </p:nvGrpSpPr>
          <p:grpSpPr>
            <a:xfrm>
              <a:off x="2503014" y="1251507"/>
              <a:ext cx="1251507" cy="1251507"/>
              <a:chOff x="0" y="0"/>
              <a:chExt cx="1913890" cy="191389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CF4545"/>
              </a:solidFill>
            </p:spPr>
          </p:sp>
        </p:grpSp>
        <p:grpSp>
          <p:nvGrpSpPr>
            <p:cNvPr id="8" name="Group 8"/>
            <p:cNvGrpSpPr/>
            <p:nvPr/>
          </p:nvGrpSpPr>
          <p:grpSpPr>
            <a:xfrm>
              <a:off x="1251507" y="2503014"/>
              <a:ext cx="1251507" cy="1251507"/>
              <a:chOff x="0" y="0"/>
              <a:chExt cx="1913890" cy="191389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6950"/>
              </a:solidFill>
            </p:spPr>
          </p:sp>
        </p:grpSp>
        <p:grpSp>
          <p:nvGrpSpPr>
            <p:cNvPr id="10" name="Group 10"/>
            <p:cNvGrpSpPr/>
            <p:nvPr/>
          </p:nvGrpSpPr>
          <p:grpSpPr>
            <a:xfrm>
              <a:off x="3754522" y="3754522"/>
              <a:ext cx="1251507" cy="1251507"/>
              <a:chOff x="0" y="0"/>
              <a:chExt cx="1913890" cy="191389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65212A"/>
              </a:solidFill>
            </p:spPr>
          </p:sp>
        </p:grpSp>
        <p:grpSp>
          <p:nvGrpSpPr>
            <p:cNvPr id="12" name="Group 12"/>
            <p:cNvGrpSpPr/>
            <p:nvPr/>
          </p:nvGrpSpPr>
          <p:grpSpPr>
            <a:xfrm>
              <a:off x="3754522" y="2503014"/>
              <a:ext cx="1251507" cy="1251507"/>
              <a:chOff x="0" y="0"/>
              <a:chExt cx="1913890" cy="191389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6950"/>
              </a:solidFill>
            </p:spPr>
          </p:sp>
        </p:grpSp>
        <p:grpSp>
          <p:nvGrpSpPr>
            <p:cNvPr id="14" name="Group 14"/>
            <p:cNvGrpSpPr/>
            <p:nvPr/>
          </p:nvGrpSpPr>
          <p:grpSpPr>
            <a:xfrm>
              <a:off x="2503014" y="3754522"/>
              <a:ext cx="1251507" cy="1251507"/>
              <a:chOff x="0" y="0"/>
              <a:chExt cx="1913890" cy="191389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CF4545"/>
              </a:solidFill>
            </p:spPr>
          </p:sp>
        </p:grpSp>
        <p:grpSp>
          <p:nvGrpSpPr>
            <p:cNvPr id="16" name="Group 16"/>
            <p:cNvGrpSpPr/>
            <p:nvPr/>
          </p:nvGrpSpPr>
          <p:grpSpPr>
            <a:xfrm>
              <a:off x="3754522" y="1251507"/>
              <a:ext cx="1251507" cy="1251507"/>
              <a:chOff x="0" y="0"/>
              <a:chExt cx="1913890" cy="191389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65212A"/>
              </a:solidFill>
            </p:spPr>
          </p:sp>
        </p:grpSp>
        <p:grpSp>
          <p:nvGrpSpPr>
            <p:cNvPr id="18" name="Group 18"/>
            <p:cNvGrpSpPr/>
            <p:nvPr/>
          </p:nvGrpSpPr>
          <p:grpSpPr>
            <a:xfrm>
              <a:off x="1251507" y="3754522"/>
              <a:ext cx="1251507" cy="1251507"/>
              <a:chOff x="0" y="0"/>
              <a:chExt cx="1913890" cy="191389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65212A"/>
              </a:solidFill>
            </p:spPr>
          </p:sp>
        </p:grpSp>
        <p:grpSp>
          <p:nvGrpSpPr>
            <p:cNvPr id="20" name="Group 20"/>
            <p:cNvGrpSpPr/>
            <p:nvPr/>
          </p:nvGrpSpPr>
          <p:grpSpPr>
            <a:xfrm>
              <a:off x="3754522" y="0"/>
              <a:ext cx="1251507" cy="1251507"/>
              <a:chOff x="0" y="0"/>
              <a:chExt cx="1913890" cy="191389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6950"/>
              </a:solidFill>
            </p:spPr>
          </p:sp>
        </p:grpSp>
        <p:grpSp>
          <p:nvGrpSpPr>
            <p:cNvPr id="22" name="Group 22"/>
            <p:cNvGrpSpPr/>
            <p:nvPr/>
          </p:nvGrpSpPr>
          <p:grpSpPr>
            <a:xfrm>
              <a:off x="0" y="3754522"/>
              <a:ext cx="1251507" cy="1251507"/>
              <a:chOff x="0" y="0"/>
              <a:chExt cx="1913890" cy="191389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CF4545"/>
              </a:solidFill>
            </p:spPr>
          </p:sp>
        </p:grpSp>
        <p:grpSp>
          <p:nvGrpSpPr>
            <p:cNvPr id="24" name="Group 24"/>
            <p:cNvGrpSpPr/>
            <p:nvPr/>
          </p:nvGrpSpPr>
          <p:grpSpPr>
            <a:xfrm>
              <a:off x="2503014" y="1251507"/>
              <a:ext cx="1251507" cy="1251507"/>
              <a:chOff x="0" y="0"/>
              <a:chExt cx="1913890" cy="191389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</p:grpSp>
      </p:grpSp>
      <p:sp>
        <p:nvSpPr>
          <p:cNvPr id="26" name="TextBox 26"/>
          <p:cNvSpPr txBox="1"/>
          <p:nvPr/>
        </p:nvSpPr>
        <p:spPr>
          <a:xfrm>
            <a:off x="17565394" y="384175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CF4545"/>
                </a:solidFill>
                <a:latin typeface="Public Sans"/>
                <a:ea typeface="Public Sans"/>
                <a:cs typeface="Public Sans"/>
                <a:sym typeface="Public Sans"/>
              </a:rPr>
              <a:t>7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671305" y="2280063"/>
            <a:ext cx="9019829" cy="7604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Backend</a:t>
            </a:r>
          </a:p>
          <a:p>
            <a:pPr marL="518158" lvl="1" indent="-259079" algn="l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Framework: ASP.NET Core Web API (.NET 8)</a:t>
            </a:r>
          </a:p>
          <a:p>
            <a:pPr marL="518158" lvl="1" indent="-259079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ORM: Entity Framework Core</a:t>
            </a:r>
          </a:p>
          <a:p>
            <a:pPr marL="518158" lvl="1" indent="-259079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Querying: LINQ</a:t>
            </a:r>
          </a:p>
          <a:p>
            <a:pPr marL="518158" lvl="1" indent="-259079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Authentication: JWT + ASP.NET Identity</a:t>
            </a:r>
          </a:p>
          <a:p>
            <a:pPr marL="518158" lvl="1" indent="-259079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Database: SQL Server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399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Frontend</a:t>
            </a:r>
          </a:p>
          <a:p>
            <a:pPr marL="518158" lvl="1" indent="-259079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Framework: Angular (Latest)</a:t>
            </a:r>
          </a:p>
          <a:p>
            <a:pPr marL="518158" lvl="1" indent="-259079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UI: Angular Material</a:t>
            </a:r>
          </a:p>
          <a:p>
            <a:pPr marL="518158" lvl="1" indent="-259079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Forms: Reactive Forms</a:t>
            </a:r>
          </a:p>
          <a:p>
            <a:pPr marL="518158" lvl="1" indent="-259079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Language: TypeScript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399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Tools &amp; Testing</a:t>
            </a:r>
          </a:p>
          <a:p>
            <a:pPr marL="518158" lvl="1" indent="-259079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Swagger – API documentation</a:t>
            </a:r>
          </a:p>
          <a:p>
            <a:pPr marL="518158" lvl="1" indent="-259079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Postman – API testing</a:t>
            </a:r>
          </a:p>
          <a:p>
            <a:pPr marL="518158" lvl="1" indent="-259079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xUnit – Unit &amp; integration testing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399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16410739" y="0"/>
            <a:ext cx="1877261" cy="1877261"/>
            <a:chOff x="0" y="0"/>
            <a:chExt cx="2503014" cy="2503014"/>
          </a:xfrm>
        </p:grpSpPr>
        <p:grpSp>
          <p:nvGrpSpPr>
            <p:cNvPr id="3" name="Group 3"/>
            <p:cNvGrpSpPr/>
            <p:nvPr/>
          </p:nvGrpSpPr>
          <p:grpSpPr>
            <a:xfrm>
              <a:off x="1251507" y="1251507"/>
              <a:ext cx="1251507" cy="1251507"/>
              <a:chOff x="0" y="0"/>
              <a:chExt cx="1913890" cy="191389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65212A"/>
              </a:solidFill>
            </p:spPr>
          </p:sp>
        </p:grpSp>
        <p:grpSp>
          <p:nvGrpSpPr>
            <p:cNvPr id="5" name="Group 5"/>
            <p:cNvGrpSpPr/>
            <p:nvPr/>
          </p:nvGrpSpPr>
          <p:grpSpPr>
            <a:xfrm>
              <a:off x="1251507" y="0"/>
              <a:ext cx="1251507" cy="1251507"/>
              <a:chOff x="0" y="0"/>
              <a:chExt cx="1913890" cy="191389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CF4545"/>
              </a:solidFill>
            </p:spPr>
          </p:sp>
        </p:grpSp>
        <p:grpSp>
          <p:nvGrpSpPr>
            <p:cNvPr id="7" name="Group 7"/>
            <p:cNvGrpSpPr/>
            <p:nvPr/>
          </p:nvGrpSpPr>
          <p:grpSpPr>
            <a:xfrm>
              <a:off x="0" y="1251507"/>
              <a:ext cx="1251507" cy="1251507"/>
              <a:chOff x="0" y="0"/>
              <a:chExt cx="1913890" cy="191389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6950"/>
              </a:solidFill>
            </p:spPr>
          </p:sp>
        </p:grpSp>
      </p:grpSp>
      <p:sp>
        <p:nvSpPr>
          <p:cNvPr id="9" name="Freeform 9"/>
          <p:cNvSpPr/>
          <p:nvPr/>
        </p:nvSpPr>
        <p:spPr>
          <a:xfrm>
            <a:off x="1921735" y="2036035"/>
            <a:ext cx="14444530" cy="7222265"/>
          </a:xfrm>
          <a:custGeom>
            <a:avLst/>
            <a:gdLst/>
            <a:ahLst/>
            <a:cxnLst/>
            <a:rect l="l" t="t" r="r" b="b"/>
            <a:pathLst>
              <a:path w="14444530" h="7222265">
                <a:moveTo>
                  <a:pt x="0" y="0"/>
                </a:moveTo>
                <a:lnTo>
                  <a:pt x="14444530" y="0"/>
                </a:lnTo>
                <a:lnTo>
                  <a:pt x="14444530" y="7222265"/>
                </a:lnTo>
                <a:lnTo>
                  <a:pt x="0" y="72222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444627" y="679016"/>
            <a:ext cx="11117788" cy="830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19"/>
              </a:lnSpc>
              <a:spcBef>
                <a:spcPct val="0"/>
              </a:spcBef>
            </a:pPr>
            <a:r>
              <a:rPr lang="en-US" sz="4800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System Architecture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565394" y="384175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2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96659" y="2494121"/>
            <a:ext cx="5489543" cy="2266344"/>
          </a:xfrm>
          <a:custGeom>
            <a:avLst/>
            <a:gdLst/>
            <a:ahLst/>
            <a:cxnLst/>
            <a:rect l="l" t="t" r="r" b="b"/>
            <a:pathLst>
              <a:path w="5489543" h="2266344">
                <a:moveTo>
                  <a:pt x="0" y="0"/>
                </a:moveTo>
                <a:lnTo>
                  <a:pt x="5489544" y="0"/>
                </a:lnTo>
                <a:lnTo>
                  <a:pt x="5489544" y="2266344"/>
                </a:lnTo>
                <a:lnTo>
                  <a:pt x="0" y="2266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923925"/>
            <a:ext cx="3771900" cy="7858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 dirty="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User Roles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39315" y="2538268"/>
            <a:ext cx="3644409" cy="2120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Admin</a:t>
            </a:r>
          </a:p>
          <a:p>
            <a:pPr marL="431801" lvl="1" indent="-215900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User management &amp; role assignment</a:t>
            </a:r>
          </a:p>
          <a:p>
            <a:pPr marL="431801" lvl="1" indent="-215900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System configuration</a:t>
            </a:r>
          </a:p>
          <a:p>
            <a:pPr marL="431801" lvl="1" indent="-215900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Manage service categories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9845064" y="2392824"/>
            <a:ext cx="5489543" cy="2266344"/>
          </a:xfrm>
          <a:custGeom>
            <a:avLst/>
            <a:gdLst/>
            <a:ahLst/>
            <a:cxnLst/>
            <a:rect l="l" t="t" r="r" b="b"/>
            <a:pathLst>
              <a:path w="5489543" h="2266344">
                <a:moveTo>
                  <a:pt x="0" y="0"/>
                </a:moveTo>
                <a:lnTo>
                  <a:pt x="5489544" y="0"/>
                </a:lnTo>
                <a:lnTo>
                  <a:pt x="5489544" y="2266344"/>
                </a:lnTo>
                <a:lnTo>
                  <a:pt x="0" y="2266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064321" y="2329852"/>
            <a:ext cx="5051030" cy="2329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2"/>
              </a:lnSpc>
            </a:pPr>
            <a:endParaRPr/>
          </a:p>
          <a:p>
            <a:pPr algn="l">
              <a:lnSpc>
                <a:spcPts val="3082"/>
              </a:lnSpc>
              <a:spcBef>
                <a:spcPct val="0"/>
              </a:spcBef>
            </a:pPr>
            <a:r>
              <a:rPr lang="en-US" sz="2201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Service Manager</a:t>
            </a:r>
          </a:p>
          <a:p>
            <a:pPr marL="475408" lvl="1" indent="-237704" algn="l">
              <a:lnSpc>
                <a:spcPts val="3082"/>
              </a:lnSpc>
              <a:spcBef>
                <a:spcPct val="0"/>
              </a:spcBef>
              <a:buFont typeface="Arial"/>
              <a:buChar char="•"/>
            </a:pPr>
            <a:r>
              <a:rPr lang="en-US" sz="2201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Full access to reports</a:t>
            </a:r>
          </a:p>
          <a:p>
            <a:pPr marL="475408" lvl="1" indent="-237704" algn="l">
              <a:lnSpc>
                <a:spcPts val="3082"/>
              </a:lnSpc>
              <a:spcBef>
                <a:spcPct val="0"/>
              </a:spcBef>
              <a:buFont typeface="Arial"/>
              <a:buChar char="•"/>
            </a:pPr>
            <a:r>
              <a:rPr lang="en-US" sz="2201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Assign technicians</a:t>
            </a:r>
          </a:p>
          <a:p>
            <a:pPr marL="475408" lvl="1" indent="-237704" algn="l">
              <a:lnSpc>
                <a:spcPts val="3082"/>
              </a:lnSpc>
              <a:spcBef>
                <a:spcPct val="0"/>
              </a:spcBef>
              <a:buFont typeface="Arial"/>
              <a:buChar char="•"/>
            </a:pPr>
            <a:r>
              <a:rPr lang="en-US" sz="2201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Monitor service </a:t>
            </a:r>
          </a:p>
          <a:p>
            <a:pPr algn="l">
              <a:lnSpc>
                <a:spcPts val="3082"/>
              </a:lnSpc>
              <a:spcBef>
                <a:spcPct val="0"/>
              </a:spcBef>
            </a:pPr>
            <a:endParaRPr lang="en-US" sz="2201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9845064" y="6234509"/>
            <a:ext cx="5489543" cy="2266344"/>
          </a:xfrm>
          <a:custGeom>
            <a:avLst/>
            <a:gdLst/>
            <a:ahLst/>
            <a:cxnLst/>
            <a:rect l="l" t="t" r="r" b="b"/>
            <a:pathLst>
              <a:path w="5489543" h="2266344">
                <a:moveTo>
                  <a:pt x="0" y="0"/>
                </a:moveTo>
                <a:lnTo>
                  <a:pt x="5489544" y="0"/>
                </a:lnTo>
                <a:lnTo>
                  <a:pt x="5489544" y="2266344"/>
                </a:lnTo>
                <a:lnTo>
                  <a:pt x="0" y="2266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064321" y="6278656"/>
            <a:ext cx="5489543" cy="2120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Customer</a:t>
            </a:r>
          </a:p>
          <a:p>
            <a:pPr marL="431801" lvl="1" indent="-215900" algn="just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Register vehicles</a:t>
            </a:r>
          </a:p>
          <a:p>
            <a:pPr marL="431801" lvl="1" indent="-215900" algn="just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Create service requests</a:t>
            </a:r>
          </a:p>
          <a:p>
            <a:pPr marL="431801" lvl="1" indent="-215900" algn="just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Track service status</a:t>
            </a:r>
          </a:p>
          <a:p>
            <a:pPr marL="431801" lvl="1" indent="-215900" algn="just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View and pay invoices</a:t>
            </a:r>
          </a:p>
          <a:p>
            <a:pPr algn="just">
              <a:lnSpc>
                <a:spcPts val="2800"/>
              </a:lnSpc>
              <a:spcBef>
                <a:spcPct val="0"/>
              </a:spcBef>
            </a:pPr>
            <a:endParaRPr lang="en-US" sz="2000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896659" y="6234509"/>
            <a:ext cx="5489543" cy="2266344"/>
          </a:xfrm>
          <a:custGeom>
            <a:avLst/>
            <a:gdLst/>
            <a:ahLst/>
            <a:cxnLst/>
            <a:rect l="l" t="t" r="r" b="b"/>
            <a:pathLst>
              <a:path w="5489543" h="2266344">
                <a:moveTo>
                  <a:pt x="0" y="0"/>
                </a:moveTo>
                <a:lnTo>
                  <a:pt x="5489544" y="0"/>
                </a:lnTo>
                <a:lnTo>
                  <a:pt x="5489544" y="2266344"/>
                </a:lnTo>
                <a:lnTo>
                  <a:pt x="0" y="2266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286161" y="6102443"/>
            <a:ext cx="4128095" cy="247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endParaRPr/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Technician</a:t>
            </a:r>
          </a:p>
          <a:p>
            <a:pPr marL="431801" lvl="1" indent="-215900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View assigned service requests</a:t>
            </a:r>
          </a:p>
          <a:p>
            <a:pPr marL="431801" lvl="1" indent="-215900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Update service status</a:t>
            </a:r>
          </a:p>
          <a:p>
            <a:pPr marL="431801" lvl="1" indent="-215900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Record parts usage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74707" y="275273"/>
            <a:ext cx="6832047" cy="830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19"/>
              </a:lnSpc>
              <a:spcBef>
                <a:spcPct val="0"/>
              </a:spcBef>
            </a:pPr>
            <a:r>
              <a:rPr lang="en-US" sz="4800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System Flowchart</a:t>
            </a:r>
          </a:p>
        </p:txBody>
      </p:sp>
      <p:grpSp>
        <p:nvGrpSpPr>
          <p:cNvPr id="3" name="Group 3"/>
          <p:cNvGrpSpPr/>
          <p:nvPr/>
        </p:nvGrpSpPr>
        <p:grpSpPr>
          <a:xfrm rot="-10800000">
            <a:off x="0" y="0"/>
            <a:ext cx="1877261" cy="1877261"/>
            <a:chOff x="0" y="0"/>
            <a:chExt cx="2503014" cy="2503014"/>
          </a:xfrm>
        </p:grpSpPr>
        <p:grpSp>
          <p:nvGrpSpPr>
            <p:cNvPr id="4" name="Group 4"/>
            <p:cNvGrpSpPr/>
            <p:nvPr/>
          </p:nvGrpSpPr>
          <p:grpSpPr>
            <a:xfrm>
              <a:off x="1251507" y="1251507"/>
              <a:ext cx="1251507" cy="1251507"/>
              <a:chOff x="0" y="0"/>
              <a:chExt cx="1913890" cy="191389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65212A"/>
              </a:solidFill>
            </p:spPr>
          </p:sp>
        </p:grpSp>
        <p:grpSp>
          <p:nvGrpSpPr>
            <p:cNvPr id="6" name="Group 6"/>
            <p:cNvGrpSpPr/>
            <p:nvPr/>
          </p:nvGrpSpPr>
          <p:grpSpPr>
            <a:xfrm>
              <a:off x="1251507" y="0"/>
              <a:ext cx="1251507" cy="1251507"/>
              <a:chOff x="0" y="0"/>
              <a:chExt cx="1913890" cy="191389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CF4545"/>
              </a:solidFill>
            </p:spPr>
          </p:sp>
        </p:grpSp>
        <p:grpSp>
          <p:nvGrpSpPr>
            <p:cNvPr id="8" name="Group 8"/>
            <p:cNvGrpSpPr/>
            <p:nvPr/>
          </p:nvGrpSpPr>
          <p:grpSpPr>
            <a:xfrm>
              <a:off x="0" y="1251507"/>
              <a:ext cx="1251507" cy="1251507"/>
              <a:chOff x="0" y="0"/>
              <a:chExt cx="1913890" cy="191389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6950"/>
              </a:solidFill>
            </p:spPr>
          </p:sp>
        </p:grpSp>
      </p:grpSp>
      <p:sp>
        <p:nvSpPr>
          <p:cNvPr id="10" name="Freeform 10"/>
          <p:cNvSpPr/>
          <p:nvPr/>
        </p:nvSpPr>
        <p:spPr>
          <a:xfrm>
            <a:off x="6320412" y="1965021"/>
            <a:ext cx="4500235" cy="7880276"/>
          </a:xfrm>
          <a:custGeom>
            <a:avLst/>
            <a:gdLst/>
            <a:ahLst/>
            <a:cxnLst/>
            <a:rect l="l" t="t" r="r" b="b"/>
            <a:pathLst>
              <a:path w="4500235" h="7880276">
                <a:moveTo>
                  <a:pt x="0" y="0"/>
                </a:moveTo>
                <a:lnTo>
                  <a:pt x="4500236" y="0"/>
                </a:lnTo>
                <a:lnTo>
                  <a:pt x="4500236" y="7880276"/>
                </a:lnTo>
                <a:lnTo>
                  <a:pt x="0" y="78802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130" b="-4130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7565394" y="384175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CF4545"/>
                </a:solidFill>
                <a:latin typeface="Public Sans"/>
                <a:ea typeface="Public Sans"/>
                <a:cs typeface="Public Sans"/>
                <a:sym typeface="Public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87363"/>
            <a:ext cx="6848445" cy="830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6719"/>
              </a:lnSpc>
              <a:spcBef>
                <a:spcPct val="0"/>
              </a:spcBef>
            </a:pPr>
            <a:r>
              <a:rPr lang="en-US" sz="4800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Security Features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410739" y="8409739"/>
            <a:ext cx="1877261" cy="1877261"/>
            <a:chOff x="0" y="0"/>
            <a:chExt cx="2503014" cy="2503014"/>
          </a:xfrm>
        </p:grpSpPr>
        <p:grpSp>
          <p:nvGrpSpPr>
            <p:cNvPr id="4" name="Group 4"/>
            <p:cNvGrpSpPr/>
            <p:nvPr/>
          </p:nvGrpSpPr>
          <p:grpSpPr>
            <a:xfrm>
              <a:off x="1251507" y="1251507"/>
              <a:ext cx="1251507" cy="1251507"/>
              <a:chOff x="0" y="0"/>
              <a:chExt cx="1913890" cy="191389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65212A"/>
              </a:solidFill>
            </p:spPr>
          </p:sp>
        </p:grpSp>
        <p:grpSp>
          <p:nvGrpSpPr>
            <p:cNvPr id="6" name="Group 6"/>
            <p:cNvGrpSpPr/>
            <p:nvPr/>
          </p:nvGrpSpPr>
          <p:grpSpPr>
            <a:xfrm>
              <a:off x="1251507" y="0"/>
              <a:ext cx="1251507" cy="1251507"/>
              <a:chOff x="0" y="0"/>
              <a:chExt cx="1913890" cy="191389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CF4545"/>
              </a:solidFill>
            </p:spPr>
          </p:sp>
        </p:grpSp>
        <p:grpSp>
          <p:nvGrpSpPr>
            <p:cNvPr id="8" name="Group 8"/>
            <p:cNvGrpSpPr/>
            <p:nvPr/>
          </p:nvGrpSpPr>
          <p:grpSpPr>
            <a:xfrm>
              <a:off x="0" y="1251507"/>
              <a:ext cx="1251507" cy="1251507"/>
              <a:chOff x="0" y="0"/>
              <a:chExt cx="1913890" cy="191389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6950"/>
              </a:solidFill>
            </p:spPr>
          </p:sp>
        </p:grpSp>
      </p:grpSp>
      <p:sp>
        <p:nvSpPr>
          <p:cNvPr id="10" name="TextBox 10"/>
          <p:cNvSpPr txBox="1"/>
          <p:nvPr/>
        </p:nvSpPr>
        <p:spPr>
          <a:xfrm>
            <a:off x="17565394" y="384175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CF4545"/>
                </a:solidFill>
                <a:latin typeface="Public Sans"/>
                <a:ea typeface="Public Sans"/>
                <a:cs typeface="Public Sans"/>
                <a:sym typeface="Public Sans"/>
              </a:rPr>
              <a:t>11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1811864"/>
            <a:ext cx="15042761" cy="7033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38"/>
              </a:lnSpc>
              <a:spcBef>
                <a:spcPct val="0"/>
              </a:spcBef>
            </a:pPr>
            <a:r>
              <a:rPr lang="en-US" sz="3313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Core Security</a:t>
            </a:r>
          </a:p>
          <a:p>
            <a:pPr marL="715369" lvl="1" indent="-357684" algn="l">
              <a:lnSpc>
                <a:spcPts val="4638"/>
              </a:lnSpc>
              <a:spcBef>
                <a:spcPct val="0"/>
              </a:spcBef>
              <a:buFont typeface="Arial"/>
              <a:buChar char="•"/>
            </a:pPr>
            <a:r>
              <a:rPr lang="en-US" sz="3313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JWT Authentication for all APIs</a:t>
            </a:r>
          </a:p>
          <a:p>
            <a:pPr marL="715369" lvl="1" indent="-357684" algn="l">
              <a:lnSpc>
                <a:spcPts val="4638"/>
              </a:lnSpc>
              <a:spcBef>
                <a:spcPct val="0"/>
              </a:spcBef>
              <a:buFont typeface="Arial"/>
              <a:buChar char="•"/>
            </a:pPr>
            <a:r>
              <a:rPr lang="en-US" sz="3313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Role-Based Access Control (RBAC)</a:t>
            </a:r>
          </a:p>
          <a:p>
            <a:pPr algn="l">
              <a:lnSpc>
                <a:spcPts val="4638"/>
              </a:lnSpc>
              <a:spcBef>
                <a:spcPct val="0"/>
              </a:spcBef>
            </a:pPr>
            <a:r>
              <a:rPr lang="en-US" sz="3313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Backend Security</a:t>
            </a:r>
          </a:p>
          <a:p>
            <a:pPr marL="715369" lvl="1" indent="-357684" algn="l">
              <a:lnSpc>
                <a:spcPts val="4638"/>
              </a:lnSpc>
              <a:spcBef>
                <a:spcPct val="0"/>
              </a:spcBef>
              <a:buFont typeface="Arial"/>
              <a:buChar char="•"/>
            </a:pPr>
            <a:r>
              <a:rPr lang="en-US" sz="3313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DTO-based data exposure</a:t>
            </a:r>
          </a:p>
          <a:p>
            <a:pPr marL="715369" lvl="1" indent="-357684" algn="l">
              <a:lnSpc>
                <a:spcPts val="4638"/>
              </a:lnSpc>
              <a:spcBef>
                <a:spcPct val="0"/>
              </a:spcBef>
              <a:buFont typeface="Arial"/>
              <a:buChar char="•"/>
            </a:pPr>
            <a:r>
              <a:rPr lang="en-US" sz="3313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Protected endpoints</a:t>
            </a:r>
          </a:p>
          <a:p>
            <a:pPr marL="715369" lvl="1" indent="-357684" algn="l">
              <a:lnSpc>
                <a:spcPts val="4638"/>
              </a:lnSpc>
              <a:spcBef>
                <a:spcPct val="0"/>
              </a:spcBef>
              <a:buFont typeface="Arial"/>
              <a:buChar char="•"/>
            </a:pPr>
            <a:r>
              <a:rPr lang="en-US" sz="3313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Global exception handling middleware</a:t>
            </a:r>
          </a:p>
          <a:p>
            <a:pPr algn="l">
              <a:lnSpc>
                <a:spcPts val="4638"/>
              </a:lnSpc>
              <a:spcBef>
                <a:spcPct val="0"/>
              </a:spcBef>
            </a:pPr>
            <a:r>
              <a:rPr lang="en-US" sz="3313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Frontend Security</a:t>
            </a:r>
          </a:p>
          <a:p>
            <a:pPr marL="715369" lvl="1" indent="-357684" algn="l">
              <a:lnSpc>
                <a:spcPts val="4638"/>
              </a:lnSpc>
              <a:spcBef>
                <a:spcPct val="0"/>
              </a:spcBef>
              <a:buFont typeface="Arial"/>
              <a:buChar char="•"/>
            </a:pPr>
            <a:r>
              <a:rPr lang="en-US" sz="3313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Angular route guards</a:t>
            </a:r>
          </a:p>
          <a:p>
            <a:pPr marL="715369" lvl="1" indent="-357684" algn="l">
              <a:lnSpc>
                <a:spcPts val="4638"/>
              </a:lnSpc>
              <a:spcBef>
                <a:spcPct val="0"/>
              </a:spcBef>
              <a:buFont typeface="Arial"/>
              <a:buChar char="•"/>
            </a:pPr>
            <a:r>
              <a:rPr lang="en-US" sz="3313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HTTP interceptors for JWT</a:t>
            </a:r>
          </a:p>
          <a:p>
            <a:pPr marL="715369" lvl="1" indent="-357684" algn="l">
              <a:lnSpc>
                <a:spcPts val="4638"/>
              </a:lnSpc>
              <a:spcBef>
                <a:spcPct val="0"/>
              </a:spcBef>
              <a:buFont typeface="Arial"/>
              <a:buChar char="•"/>
            </a:pPr>
            <a:r>
              <a:rPr lang="en-US" sz="3313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Secure role-based navigation</a:t>
            </a:r>
          </a:p>
          <a:p>
            <a:pPr algn="l">
              <a:lnSpc>
                <a:spcPts val="4638"/>
              </a:lnSpc>
              <a:spcBef>
                <a:spcPct val="0"/>
              </a:spcBef>
            </a:pPr>
            <a:endParaRPr lang="en-US" sz="3313">
              <a:solidFill>
                <a:srgbClr val="00000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38630" y="1202351"/>
            <a:ext cx="5987700" cy="1678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19"/>
              </a:lnSpc>
              <a:spcBef>
                <a:spcPct val="0"/>
              </a:spcBef>
            </a:pPr>
            <a:r>
              <a:rPr lang="en-US" sz="4800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Quality Assurance and Testing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455878" y="0"/>
            <a:ext cx="9832122" cy="10287000"/>
            <a:chOff x="0" y="0"/>
            <a:chExt cx="3325928" cy="3479800"/>
          </a:xfrm>
        </p:grpSpPr>
        <p:sp>
          <p:nvSpPr>
            <p:cNvPr id="4" name="Freeform 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3325928" cy="3479800"/>
            </a:xfrm>
            <a:custGeom>
              <a:avLst/>
              <a:gdLst/>
              <a:ahLst/>
              <a:cxnLst/>
              <a:rect l="l" t="t" r="r" b="b"/>
              <a:pathLst>
                <a:path w="3325928" h="3479800">
                  <a:moveTo>
                    <a:pt x="0" y="0"/>
                  </a:moveTo>
                  <a:lnTo>
                    <a:pt x="3325928" y="0"/>
                  </a:lnTo>
                  <a:lnTo>
                    <a:pt x="3325928" y="3479800"/>
                  </a:lnTo>
                  <a:lnTo>
                    <a:pt x="0" y="3479800"/>
                  </a:lnTo>
                  <a:close/>
                </a:path>
              </a:pathLst>
            </a:custGeom>
            <a:solidFill>
              <a:srgbClr val="65212A"/>
            </a:solidFill>
          </p:spPr>
        </p:sp>
      </p:grpSp>
      <p:grpSp>
        <p:nvGrpSpPr>
          <p:cNvPr id="5" name="Group 5"/>
          <p:cNvGrpSpPr/>
          <p:nvPr/>
        </p:nvGrpSpPr>
        <p:grpSpPr>
          <a:xfrm rot="5400000">
            <a:off x="0" y="8440006"/>
            <a:ext cx="1877261" cy="1877261"/>
            <a:chOff x="0" y="0"/>
            <a:chExt cx="2503014" cy="2503014"/>
          </a:xfrm>
        </p:grpSpPr>
        <p:grpSp>
          <p:nvGrpSpPr>
            <p:cNvPr id="6" name="Group 6"/>
            <p:cNvGrpSpPr/>
            <p:nvPr/>
          </p:nvGrpSpPr>
          <p:grpSpPr>
            <a:xfrm>
              <a:off x="1251507" y="1251507"/>
              <a:ext cx="1251507" cy="1251507"/>
              <a:chOff x="0" y="0"/>
              <a:chExt cx="1913890" cy="191389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65212A"/>
              </a:solidFill>
            </p:spPr>
          </p:sp>
        </p:grpSp>
        <p:grpSp>
          <p:nvGrpSpPr>
            <p:cNvPr id="8" name="Group 8"/>
            <p:cNvGrpSpPr/>
            <p:nvPr/>
          </p:nvGrpSpPr>
          <p:grpSpPr>
            <a:xfrm>
              <a:off x="1251507" y="0"/>
              <a:ext cx="1251507" cy="1251507"/>
              <a:chOff x="0" y="0"/>
              <a:chExt cx="1913890" cy="191389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CF4545"/>
              </a:solidFill>
            </p:spPr>
          </p:sp>
        </p:grpSp>
        <p:grpSp>
          <p:nvGrpSpPr>
            <p:cNvPr id="10" name="Group 10"/>
            <p:cNvGrpSpPr/>
            <p:nvPr/>
          </p:nvGrpSpPr>
          <p:grpSpPr>
            <a:xfrm>
              <a:off x="0" y="1251507"/>
              <a:ext cx="1251507" cy="1251507"/>
              <a:chOff x="0" y="0"/>
              <a:chExt cx="1913890" cy="191389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6950"/>
              </a:solidFill>
            </p:spPr>
          </p:sp>
        </p:grpSp>
      </p:grpSp>
      <p:sp>
        <p:nvSpPr>
          <p:cNvPr id="12" name="TextBox 12"/>
          <p:cNvSpPr txBox="1"/>
          <p:nvPr/>
        </p:nvSpPr>
        <p:spPr>
          <a:xfrm>
            <a:off x="17565394" y="384175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CF4545"/>
                </a:solidFill>
                <a:latin typeface="Public Sans"/>
                <a:ea typeface="Public Sans"/>
                <a:cs typeface="Public Sans"/>
                <a:sym typeface="Public Sans"/>
              </a:rPr>
              <a:t>12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4000" y="1882528"/>
            <a:ext cx="7125674" cy="8032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0"/>
              </a:lnSpc>
              <a:spcBef>
                <a:spcPct val="0"/>
              </a:spcBef>
            </a:pPr>
            <a:r>
              <a:rPr lang="en-US" sz="2993" dirty="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Your Testing Strategy</a:t>
            </a:r>
          </a:p>
          <a:p>
            <a:pPr marL="646277" lvl="1" indent="-323139" algn="l">
              <a:lnSpc>
                <a:spcPts val="4190"/>
              </a:lnSpc>
              <a:spcBef>
                <a:spcPct val="0"/>
              </a:spcBef>
              <a:buFont typeface="Arial"/>
              <a:buChar char="•"/>
            </a:pPr>
            <a:r>
              <a:rPr lang="en-US" sz="2993" dirty="0" err="1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xUnit</a:t>
            </a:r>
            <a:r>
              <a:rPr lang="en-US" sz="2993" dirty="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Testing</a:t>
            </a:r>
          </a:p>
          <a:p>
            <a:pPr marL="1292555" lvl="2" indent="-430852" algn="l">
              <a:lnSpc>
                <a:spcPts val="4190"/>
              </a:lnSpc>
              <a:spcBef>
                <a:spcPct val="0"/>
              </a:spcBef>
              <a:buFont typeface="Arial"/>
              <a:buChar char="⚬"/>
            </a:pPr>
            <a:r>
              <a:rPr lang="en-US" sz="2993" dirty="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Service logic validation</a:t>
            </a:r>
          </a:p>
          <a:p>
            <a:pPr marL="1292555" lvl="2" indent="-430852" algn="l">
              <a:lnSpc>
                <a:spcPts val="4190"/>
              </a:lnSpc>
              <a:spcBef>
                <a:spcPct val="0"/>
              </a:spcBef>
              <a:buFont typeface="Arial"/>
              <a:buChar char="⚬"/>
            </a:pPr>
            <a:r>
              <a:rPr lang="en-US" sz="2993" dirty="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Billing and inventory calculations</a:t>
            </a:r>
          </a:p>
          <a:p>
            <a:pPr marL="1292555" lvl="2" indent="-430852" algn="l">
              <a:lnSpc>
                <a:spcPts val="4190"/>
              </a:lnSpc>
              <a:spcBef>
                <a:spcPct val="0"/>
              </a:spcBef>
              <a:buFont typeface="Arial"/>
              <a:buChar char="⚬"/>
            </a:pPr>
            <a:r>
              <a:rPr lang="en-US" sz="2993" dirty="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LINQ-based report correctness</a:t>
            </a:r>
          </a:p>
          <a:p>
            <a:pPr algn="l">
              <a:lnSpc>
                <a:spcPts val="4190"/>
              </a:lnSpc>
              <a:spcBef>
                <a:spcPct val="0"/>
              </a:spcBef>
            </a:pPr>
            <a:endParaRPr lang="en-US" sz="2993" dirty="0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646277" lvl="1" indent="-323139" algn="l">
              <a:lnSpc>
                <a:spcPts val="4190"/>
              </a:lnSpc>
              <a:spcBef>
                <a:spcPct val="0"/>
              </a:spcBef>
              <a:buFont typeface="Arial"/>
              <a:buChar char="•"/>
            </a:pPr>
            <a:r>
              <a:rPr lang="en-US" sz="2993" dirty="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Postman Testing</a:t>
            </a:r>
          </a:p>
          <a:p>
            <a:pPr marL="1292555" lvl="2" indent="-430852" algn="l">
              <a:lnSpc>
                <a:spcPts val="4190"/>
              </a:lnSpc>
              <a:spcBef>
                <a:spcPct val="0"/>
              </a:spcBef>
              <a:buFont typeface="Arial"/>
              <a:buChar char="⚬"/>
            </a:pPr>
            <a:r>
              <a:rPr lang="en-US" sz="2993" dirty="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Endpoint validation</a:t>
            </a:r>
          </a:p>
          <a:p>
            <a:pPr marL="1292555" lvl="2" indent="-430852" algn="l">
              <a:lnSpc>
                <a:spcPts val="4190"/>
              </a:lnSpc>
              <a:spcBef>
                <a:spcPct val="0"/>
              </a:spcBef>
              <a:buFont typeface="Arial"/>
              <a:buChar char="⚬"/>
            </a:pPr>
            <a:r>
              <a:rPr lang="en-US" sz="2993" dirty="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Auth &amp; RBAC checks</a:t>
            </a:r>
          </a:p>
          <a:p>
            <a:pPr marL="1292555" lvl="2" indent="-430852" algn="l">
              <a:lnSpc>
                <a:spcPts val="4190"/>
              </a:lnSpc>
              <a:spcBef>
                <a:spcPct val="0"/>
              </a:spcBef>
              <a:buFont typeface="Arial"/>
              <a:buChar char="⚬"/>
            </a:pPr>
            <a:r>
              <a:rPr lang="en-US" sz="2993" dirty="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Error and edge cases</a:t>
            </a:r>
          </a:p>
          <a:p>
            <a:pPr algn="l">
              <a:lnSpc>
                <a:spcPts val="4190"/>
              </a:lnSpc>
              <a:spcBef>
                <a:spcPct val="0"/>
              </a:spcBef>
            </a:pPr>
            <a:endParaRPr lang="en-US" sz="2993" dirty="0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l">
              <a:lnSpc>
                <a:spcPts val="4190"/>
              </a:lnSpc>
              <a:spcBef>
                <a:spcPct val="0"/>
              </a:spcBef>
            </a:pPr>
            <a:r>
              <a:rPr lang="en-US" sz="2993" dirty="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Documentation</a:t>
            </a:r>
          </a:p>
          <a:p>
            <a:pPr marL="646277" lvl="1" indent="-323139" algn="l">
              <a:lnSpc>
                <a:spcPts val="4190"/>
              </a:lnSpc>
              <a:spcBef>
                <a:spcPct val="0"/>
              </a:spcBef>
              <a:buFont typeface="Arial"/>
              <a:buChar char="•"/>
            </a:pPr>
            <a:r>
              <a:rPr lang="en-US" sz="2993" dirty="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Swagger </a:t>
            </a:r>
            <a:r>
              <a:rPr lang="en-US" sz="2993" dirty="0" err="1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OpenAPI</a:t>
            </a:r>
            <a:r>
              <a:rPr lang="en-US" sz="2993" dirty="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for all endpoints text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17255331" y="0"/>
            <a:ext cx="1032669" cy="1032669"/>
            <a:chOff x="0" y="0"/>
            <a:chExt cx="1376892" cy="1376892"/>
          </a:xfrm>
        </p:grpSpPr>
        <p:grpSp>
          <p:nvGrpSpPr>
            <p:cNvPr id="3" name="Group 3"/>
            <p:cNvGrpSpPr/>
            <p:nvPr/>
          </p:nvGrpSpPr>
          <p:grpSpPr>
            <a:xfrm>
              <a:off x="688446" y="688446"/>
              <a:ext cx="688446" cy="688446"/>
              <a:chOff x="0" y="0"/>
              <a:chExt cx="1913890" cy="191389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65212A"/>
              </a:solidFill>
            </p:spPr>
          </p:sp>
        </p:grpSp>
        <p:grpSp>
          <p:nvGrpSpPr>
            <p:cNvPr id="5" name="Group 5"/>
            <p:cNvGrpSpPr/>
            <p:nvPr/>
          </p:nvGrpSpPr>
          <p:grpSpPr>
            <a:xfrm>
              <a:off x="688446" y="0"/>
              <a:ext cx="688446" cy="688446"/>
              <a:chOff x="0" y="0"/>
              <a:chExt cx="1913890" cy="191389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CF4545"/>
              </a:solidFill>
            </p:spPr>
          </p:sp>
        </p:grpSp>
        <p:grpSp>
          <p:nvGrpSpPr>
            <p:cNvPr id="7" name="Group 7"/>
            <p:cNvGrpSpPr/>
            <p:nvPr/>
          </p:nvGrpSpPr>
          <p:grpSpPr>
            <a:xfrm>
              <a:off x="0" y="688446"/>
              <a:ext cx="688446" cy="688446"/>
              <a:chOff x="0" y="0"/>
              <a:chExt cx="1913890" cy="191389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6950"/>
              </a:solidFill>
            </p:spPr>
          </p:sp>
        </p:grpSp>
      </p:grpSp>
      <p:grpSp>
        <p:nvGrpSpPr>
          <p:cNvPr id="9" name="Group 9"/>
          <p:cNvGrpSpPr/>
          <p:nvPr/>
        </p:nvGrpSpPr>
        <p:grpSpPr>
          <a:xfrm rot="5400000">
            <a:off x="0" y="9258300"/>
            <a:ext cx="1028700" cy="1028700"/>
            <a:chOff x="0" y="0"/>
            <a:chExt cx="1371600" cy="1371600"/>
          </a:xfrm>
        </p:grpSpPr>
        <p:grpSp>
          <p:nvGrpSpPr>
            <p:cNvPr id="10" name="Group 10"/>
            <p:cNvGrpSpPr/>
            <p:nvPr/>
          </p:nvGrpSpPr>
          <p:grpSpPr>
            <a:xfrm>
              <a:off x="685800" y="685800"/>
              <a:ext cx="685800" cy="685800"/>
              <a:chOff x="0" y="0"/>
              <a:chExt cx="1913890" cy="191389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65212A"/>
              </a:solidFill>
            </p:spPr>
          </p:sp>
        </p:grpSp>
        <p:grpSp>
          <p:nvGrpSpPr>
            <p:cNvPr id="12" name="Group 12"/>
            <p:cNvGrpSpPr/>
            <p:nvPr/>
          </p:nvGrpSpPr>
          <p:grpSpPr>
            <a:xfrm>
              <a:off x="685800" y="0"/>
              <a:ext cx="685800" cy="685800"/>
              <a:chOff x="0" y="0"/>
              <a:chExt cx="1913890" cy="191389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CF4545"/>
              </a:solidFill>
            </p:spPr>
          </p:sp>
        </p:grpSp>
        <p:grpSp>
          <p:nvGrpSpPr>
            <p:cNvPr id="14" name="Group 14"/>
            <p:cNvGrpSpPr/>
            <p:nvPr/>
          </p:nvGrpSpPr>
          <p:grpSpPr>
            <a:xfrm>
              <a:off x="0" y="685800"/>
              <a:ext cx="685800" cy="685800"/>
              <a:chOff x="0" y="0"/>
              <a:chExt cx="1913890" cy="191389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6950"/>
              </a:solidFill>
            </p:spPr>
          </p:sp>
        </p:grpSp>
      </p:grpSp>
      <p:sp>
        <p:nvSpPr>
          <p:cNvPr id="16" name="Freeform 16"/>
          <p:cNvSpPr/>
          <p:nvPr/>
        </p:nvSpPr>
        <p:spPr>
          <a:xfrm>
            <a:off x="10536059" y="2060059"/>
            <a:ext cx="6479430" cy="6166883"/>
          </a:xfrm>
          <a:custGeom>
            <a:avLst/>
            <a:gdLst/>
            <a:ahLst/>
            <a:cxnLst/>
            <a:rect l="l" t="t" r="r" b="b"/>
            <a:pathLst>
              <a:path w="6479430" h="6166883">
                <a:moveTo>
                  <a:pt x="0" y="0"/>
                </a:moveTo>
                <a:lnTo>
                  <a:pt x="6479430" y="0"/>
                </a:lnTo>
                <a:lnTo>
                  <a:pt x="6479430" y="6166882"/>
                </a:lnTo>
                <a:lnTo>
                  <a:pt x="0" y="61668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92" r="-1992" b="-514"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2016939" y="1965021"/>
            <a:ext cx="5490823" cy="6356958"/>
          </a:xfrm>
          <a:custGeom>
            <a:avLst/>
            <a:gdLst/>
            <a:ahLst/>
            <a:cxnLst/>
            <a:rect l="l" t="t" r="r" b="b"/>
            <a:pathLst>
              <a:path w="5490823" h="6356958">
                <a:moveTo>
                  <a:pt x="0" y="0"/>
                </a:moveTo>
                <a:lnTo>
                  <a:pt x="5490823" y="0"/>
                </a:lnTo>
                <a:lnTo>
                  <a:pt x="5490823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7565394" y="9507244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CF4545"/>
                </a:solidFill>
                <a:latin typeface="Public Sans"/>
                <a:ea typeface="Public Sans"/>
                <a:cs typeface="Public Sans"/>
                <a:sym typeface="Public Sans"/>
              </a:rPr>
              <a:t>13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22636" y="8633638"/>
            <a:ext cx="6479430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Register( Default as Customer)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536059" y="8670151"/>
            <a:ext cx="6479430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Registered Customer Login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807564" y="561022"/>
            <a:ext cx="10441836" cy="7858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User Authentication &amp; Onboarding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6094" y="1617575"/>
            <a:ext cx="17259300" cy="8370292"/>
          </a:xfrm>
          <a:custGeom>
            <a:avLst/>
            <a:gdLst/>
            <a:ahLst/>
            <a:cxnLst/>
            <a:rect l="l" t="t" r="r" b="b"/>
            <a:pathLst>
              <a:path w="17259300" h="8370292">
                <a:moveTo>
                  <a:pt x="0" y="0"/>
                </a:moveTo>
                <a:lnTo>
                  <a:pt x="17259300" y="0"/>
                </a:lnTo>
                <a:lnTo>
                  <a:pt x="17259300" y="8370293"/>
                </a:lnTo>
                <a:lnTo>
                  <a:pt x="0" y="83702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93" r="-329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7565394" y="384175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CF4545"/>
                </a:solidFill>
                <a:latin typeface="Public Sans"/>
                <a:ea typeface="Public Sans"/>
                <a:cs typeface="Public Sans"/>
                <a:sym typeface="Public Sans"/>
              </a:rPr>
              <a:t>14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75240" y="561022"/>
            <a:ext cx="7445359" cy="7858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Customer’s Dashboard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934371"/>
            <a:ext cx="15727434" cy="7785080"/>
          </a:xfrm>
          <a:custGeom>
            <a:avLst/>
            <a:gdLst/>
            <a:ahLst/>
            <a:cxnLst/>
            <a:rect l="l" t="t" r="r" b="b"/>
            <a:pathLst>
              <a:path w="15727434" h="7785080">
                <a:moveTo>
                  <a:pt x="0" y="0"/>
                </a:moveTo>
                <a:lnTo>
                  <a:pt x="15727434" y="0"/>
                </a:lnTo>
                <a:lnTo>
                  <a:pt x="15727434" y="7785080"/>
                </a:lnTo>
                <a:lnTo>
                  <a:pt x="0" y="77850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278488" y="638175"/>
            <a:ext cx="7731024" cy="830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19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Manager’s Dashboard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565394" y="384175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CF4545"/>
                </a:solidFill>
                <a:latin typeface="Public Sans"/>
                <a:ea typeface="Public Sans"/>
                <a:cs typeface="Public Sans"/>
                <a:sym typeface="Public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79159" y="1876689"/>
            <a:ext cx="16986235" cy="7792435"/>
          </a:xfrm>
          <a:custGeom>
            <a:avLst/>
            <a:gdLst/>
            <a:ahLst/>
            <a:cxnLst/>
            <a:rect l="l" t="t" r="r" b="b"/>
            <a:pathLst>
              <a:path w="16986235" h="7792435">
                <a:moveTo>
                  <a:pt x="0" y="0"/>
                </a:moveTo>
                <a:lnTo>
                  <a:pt x="16986235" y="0"/>
                </a:lnTo>
                <a:lnTo>
                  <a:pt x="16986235" y="7792436"/>
                </a:lnTo>
                <a:lnTo>
                  <a:pt x="0" y="7792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876800" y="658126"/>
            <a:ext cx="7731024" cy="57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80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Technician’s Dashboard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565394" y="384175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CF4545"/>
                </a:solidFill>
                <a:latin typeface="Public Sans"/>
                <a:ea typeface="Public Sans"/>
                <a:cs typeface="Public Sans"/>
                <a:sym typeface="Public San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52969" y="2270476"/>
            <a:ext cx="16606331" cy="7535123"/>
          </a:xfrm>
          <a:custGeom>
            <a:avLst/>
            <a:gdLst/>
            <a:ahLst/>
            <a:cxnLst/>
            <a:rect l="l" t="t" r="r" b="b"/>
            <a:pathLst>
              <a:path w="16606331" h="7535123">
                <a:moveTo>
                  <a:pt x="0" y="0"/>
                </a:moveTo>
                <a:lnTo>
                  <a:pt x="16606331" y="0"/>
                </a:lnTo>
                <a:lnTo>
                  <a:pt x="16606331" y="7535123"/>
                </a:lnTo>
                <a:lnTo>
                  <a:pt x="0" y="75351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215046" y="721669"/>
            <a:ext cx="9376754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Customer Pending due update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565394" y="384175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CF4545"/>
                </a:solidFill>
                <a:latin typeface="Public Sans"/>
                <a:ea typeface="Public Sans"/>
                <a:cs typeface="Public Sans"/>
                <a:sym typeface="Public San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15047" y="721669"/>
            <a:ext cx="7731024" cy="57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Admin’s Dashboard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7565394" y="384175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CF4545"/>
                </a:solidFill>
                <a:latin typeface="Public Sans"/>
                <a:ea typeface="Public Sans"/>
                <a:cs typeface="Public Sans"/>
                <a:sym typeface="Public Sans"/>
              </a:rPr>
              <a:t>18</a:t>
            </a:r>
          </a:p>
        </p:txBody>
      </p:sp>
      <p:sp>
        <p:nvSpPr>
          <p:cNvPr id="4" name="Freeform 4"/>
          <p:cNvSpPr/>
          <p:nvPr/>
        </p:nvSpPr>
        <p:spPr>
          <a:xfrm>
            <a:off x="384997" y="1680993"/>
            <a:ext cx="17180396" cy="7871470"/>
          </a:xfrm>
          <a:custGeom>
            <a:avLst/>
            <a:gdLst/>
            <a:ahLst/>
            <a:cxnLst/>
            <a:rect l="l" t="t" r="r" b="b"/>
            <a:pathLst>
              <a:path w="17180396" h="7871470">
                <a:moveTo>
                  <a:pt x="0" y="0"/>
                </a:moveTo>
                <a:lnTo>
                  <a:pt x="17180397" y="0"/>
                </a:lnTo>
                <a:lnTo>
                  <a:pt x="17180397" y="7871470"/>
                </a:lnTo>
                <a:lnTo>
                  <a:pt x="0" y="78714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039"/>
            </a:stretch>
          </a:blipFill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410739" y="8409739"/>
            <a:ext cx="1877261" cy="1877261"/>
            <a:chOff x="0" y="0"/>
            <a:chExt cx="2503014" cy="2503014"/>
          </a:xfrm>
        </p:grpSpPr>
        <p:grpSp>
          <p:nvGrpSpPr>
            <p:cNvPr id="3" name="Group 3"/>
            <p:cNvGrpSpPr/>
            <p:nvPr/>
          </p:nvGrpSpPr>
          <p:grpSpPr>
            <a:xfrm>
              <a:off x="1251507" y="1251507"/>
              <a:ext cx="1251507" cy="1251507"/>
              <a:chOff x="0" y="0"/>
              <a:chExt cx="1913890" cy="191389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65212A"/>
              </a:solidFill>
            </p:spPr>
          </p:sp>
        </p:grpSp>
        <p:grpSp>
          <p:nvGrpSpPr>
            <p:cNvPr id="5" name="Group 5"/>
            <p:cNvGrpSpPr/>
            <p:nvPr/>
          </p:nvGrpSpPr>
          <p:grpSpPr>
            <a:xfrm>
              <a:off x="1251507" y="0"/>
              <a:ext cx="1251507" cy="1251507"/>
              <a:chOff x="0" y="0"/>
              <a:chExt cx="1913890" cy="191389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CF4545"/>
              </a:solidFill>
            </p:spPr>
          </p:sp>
        </p:grpSp>
        <p:grpSp>
          <p:nvGrpSpPr>
            <p:cNvPr id="7" name="Group 7"/>
            <p:cNvGrpSpPr/>
            <p:nvPr/>
          </p:nvGrpSpPr>
          <p:grpSpPr>
            <a:xfrm>
              <a:off x="0" y="1251507"/>
              <a:ext cx="1251507" cy="1251507"/>
              <a:chOff x="0" y="0"/>
              <a:chExt cx="1913890" cy="191389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6950"/>
              </a:solidFill>
            </p:spPr>
          </p:sp>
        </p:grpSp>
      </p:grpSp>
      <p:sp>
        <p:nvSpPr>
          <p:cNvPr id="9" name="TextBox 9"/>
          <p:cNvSpPr txBox="1"/>
          <p:nvPr/>
        </p:nvSpPr>
        <p:spPr>
          <a:xfrm>
            <a:off x="17565394" y="384175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CF4545"/>
                </a:solidFill>
                <a:latin typeface="Public Sans"/>
                <a:ea typeface="Public Sans"/>
                <a:cs typeface="Public Sans"/>
                <a:sym typeface="Public Sans"/>
              </a:rPr>
              <a:t>19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200409" y="3907155"/>
            <a:ext cx="7887181" cy="1236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  <a:spcBef>
                <a:spcPct val="0"/>
              </a:spcBef>
            </a:pPr>
            <a:r>
              <a:rPr lang="en-US" sz="7200" b="1">
                <a:solidFill>
                  <a:srgbClr val="CF4545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LIVE DEMO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31532" y="4087657"/>
            <a:ext cx="6832047" cy="830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19"/>
              </a:lnSpc>
              <a:spcBef>
                <a:spcPct val="0"/>
              </a:spcBef>
            </a:pPr>
            <a:r>
              <a:rPr lang="en-US" sz="4800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THANK YOU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644008" y="0"/>
            <a:ext cx="8643992" cy="9836474"/>
            <a:chOff x="0" y="0"/>
            <a:chExt cx="11525322" cy="13115299"/>
          </a:xfrm>
        </p:grpSpPr>
        <p:pic>
          <p:nvPicPr>
            <p:cNvPr id="4" name="Picture 4" descr="a close up of a plant with green leaves"/>
            <p:cNvPicPr>
              <a:picLocks noChangeAspect="1"/>
            </p:cNvPicPr>
            <p:nvPr/>
          </p:nvPicPr>
          <p:blipFill>
            <a:blip r:embed="rId2"/>
            <a:srcRect t="12068" b="12068"/>
            <a:stretch>
              <a:fillRect/>
            </a:stretch>
          </p:blipFill>
          <p:spPr>
            <a:xfrm>
              <a:off x="0" y="0"/>
              <a:ext cx="11525322" cy="13115299"/>
            </a:xfrm>
            <a:prstGeom prst="rect">
              <a:avLst/>
            </a:prstGeom>
          </p:spPr>
        </p:pic>
      </p:grpSp>
      <p:grpSp>
        <p:nvGrpSpPr>
          <p:cNvPr id="5" name="Group 5"/>
          <p:cNvGrpSpPr/>
          <p:nvPr/>
        </p:nvGrpSpPr>
        <p:grpSpPr>
          <a:xfrm>
            <a:off x="0" y="9836474"/>
            <a:ext cx="18288000" cy="450526"/>
            <a:chOff x="0" y="0"/>
            <a:chExt cx="6186311" cy="152400"/>
          </a:xfrm>
        </p:grpSpPr>
        <p:sp>
          <p:nvSpPr>
            <p:cNvPr id="6" name="Freeform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6186311" cy="152400"/>
            </a:xfrm>
            <a:custGeom>
              <a:avLst/>
              <a:gdLst/>
              <a:ahLst/>
              <a:cxnLst/>
              <a:rect l="l" t="t" r="r" b="b"/>
              <a:pathLst>
                <a:path w="6186311" h="152400">
                  <a:moveTo>
                    <a:pt x="0" y="0"/>
                  </a:moveTo>
                  <a:lnTo>
                    <a:pt x="6186311" y="0"/>
                  </a:lnTo>
                  <a:lnTo>
                    <a:pt x="6186311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65212A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17565394" y="384175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697</Words>
  <Application>Microsoft Office PowerPoint</Application>
  <PresentationFormat>Custom</PresentationFormat>
  <Paragraphs>186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Open Sauce</vt:lpstr>
      <vt:lpstr>Calibri</vt:lpstr>
      <vt:lpstr>Arial</vt:lpstr>
      <vt:lpstr>Public Sans</vt:lpstr>
      <vt:lpstr>Public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Orange Square Shapes Simple Geometric Presentation</dc:title>
  <dc:creator>Pratyush Singh</dc:creator>
  <cp:lastModifiedBy>Pratyush Singh</cp:lastModifiedBy>
  <cp:revision>5</cp:revision>
  <dcterms:created xsi:type="dcterms:W3CDTF">2006-08-16T00:00:00Z</dcterms:created>
  <dcterms:modified xsi:type="dcterms:W3CDTF">2026-01-06T16:09:21Z</dcterms:modified>
  <dc:identifier>DAG9o6HqB7I</dc:identifier>
</cp:coreProperties>
</file>